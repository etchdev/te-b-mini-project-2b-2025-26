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9" r:id="rId3"/>
    <p:sldId id="286" r:id="rId4"/>
    <p:sldId id="260" r:id="rId5"/>
    <p:sldId id="262" r:id="rId6"/>
    <p:sldId id="289" r:id="rId7"/>
    <p:sldId id="279" r:id="rId8"/>
    <p:sldId id="278" r:id="rId9"/>
    <p:sldId id="264" r:id="rId10"/>
    <p:sldId id="265" r:id="rId11"/>
    <p:sldId id="266" r:id="rId12"/>
    <p:sldId id="267" r:id="rId13"/>
    <p:sldId id="283" r:id="rId14"/>
    <p:sldId id="281" r:id="rId15"/>
    <p:sldId id="275" r:id="rId16"/>
    <p:sldId id="282" r:id="rId17"/>
    <p:sldId id="287" r:id="rId18"/>
    <p:sldId id="290" r:id="rId19"/>
    <p:sldId id="291" r:id="rId20"/>
    <p:sldId id="269" r:id="rId21"/>
    <p:sldId id="270" r:id="rId22"/>
    <p:sldId id="271" r:id="rId23"/>
  </p:sldIdLst>
  <p:sldSz cx="9753600" cy="7315200"/>
  <p:notesSz cx="9753600" cy="7315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93" autoAdjust="0"/>
    <p:restoredTop sz="93203" autoAdjust="0"/>
  </p:normalViewPr>
  <p:slideViewPr>
    <p:cSldViewPr>
      <p:cViewPr varScale="1">
        <p:scale>
          <a:sx n="77" d="100"/>
          <a:sy n="77" d="100"/>
        </p:scale>
        <p:origin x="171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1520" y="2267712"/>
            <a:ext cx="8290560" cy="1536192"/>
          </a:xfrm>
          <a:prstGeom prst="rect">
            <a:avLst/>
          </a:prstGeom>
        </p:spPr>
        <p:txBody>
          <a:bodyPr wrap="square" lIns="0" tIns="0" rIns="0" bIns="0">
            <a:spAutoFit/>
          </a:bodyPr>
          <a:lstStyle>
            <a:lvl1pPr>
              <a:defRPr sz="345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463040" y="4096512"/>
            <a:ext cx="6827520" cy="1828800"/>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87680" y="1682496"/>
            <a:ext cx="4242816" cy="48280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023104" y="1682496"/>
            <a:ext cx="4242816" cy="48280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343375"/>
            <a:ext cx="476884" cy="2972435"/>
          </a:xfrm>
          <a:custGeom>
            <a:avLst/>
            <a:gdLst/>
            <a:ahLst/>
            <a:cxnLst/>
            <a:rect l="l" t="t" r="r" b="b"/>
            <a:pathLst>
              <a:path w="476884" h="2972434">
                <a:moveTo>
                  <a:pt x="476609" y="2971823"/>
                </a:moveTo>
                <a:lnTo>
                  <a:pt x="0" y="2971823"/>
                </a:lnTo>
                <a:lnTo>
                  <a:pt x="0" y="0"/>
                </a:lnTo>
                <a:lnTo>
                  <a:pt x="476609" y="2971823"/>
                </a:lnTo>
                <a:close/>
              </a:path>
            </a:pathLst>
          </a:custGeom>
          <a:solidFill>
            <a:srgbClr val="5ECBEF">
              <a:alpha val="69999"/>
            </a:srgbClr>
          </a:solidFill>
        </p:spPr>
        <p:txBody>
          <a:bodyPr wrap="square" lIns="0" tIns="0" rIns="0" bIns="0" rtlCol="0"/>
          <a:lstStyle/>
          <a:p>
            <a:endParaRPr/>
          </a:p>
        </p:txBody>
      </p:sp>
      <p:sp>
        <p:nvSpPr>
          <p:cNvPr id="17" name="bg object 17"/>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18" name="bg object 18"/>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19" name="bg object 19"/>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20" name="bg object 20"/>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21" name="bg object 21"/>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22" name="bg object 22"/>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23" name="bg object 23"/>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24" name="bg object 24"/>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sp>
        <p:nvSpPr>
          <p:cNvPr id="2" name="Holder 2"/>
          <p:cNvSpPr>
            <a:spLocks noGrp="1"/>
          </p:cNvSpPr>
          <p:nvPr>
            <p:ph type="title"/>
          </p:nvPr>
        </p:nvSpPr>
        <p:spPr>
          <a:xfrm>
            <a:off x="474867" y="531973"/>
            <a:ext cx="8714105" cy="608367"/>
          </a:xfrm>
          <a:prstGeom prst="rect">
            <a:avLst/>
          </a:prstGeom>
        </p:spPr>
        <p:txBody>
          <a:bodyPr wrap="square" lIns="0" tIns="0" rIns="0" bIns="0">
            <a:spAutoFit/>
          </a:bodyPr>
          <a:lstStyle>
            <a:lvl1pPr>
              <a:defRPr sz="34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77328" y="1493585"/>
            <a:ext cx="8691245" cy="3568700"/>
          </a:xfrm>
          <a:prstGeom prst="rect">
            <a:avLst/>
          </a:prstGeom>
        </p:spPr>
        <p:txBody>
          <a:bodyPr wrap="square" lIns="0" tIns="0" rIns="0" bIns="0">
            <a:spAutoFit/>
          </a:bodyPr>
          <a:lstStyle>
            <a:lvl1pPr>
              <a:defRPr sz="19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316224" y="6803136"/>
            <a:ext cx="3121152" cy="36576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87680" y="6803136"/>
            <a:ext cx="2243328" cy="36576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a:xfrm>
            <a:off x="7022592" y="6803136"/>
            <a:ext cx="2243328" cy="36576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2057400"/>
            <a:ext cx="7924800" cy="548227"/>
          </a:xfrm>
          <a:prstGeom prst="rect">
            <a:avLst/>
          </a:prstGeom>
        </p:spPr>
        <p:txBody>
          <a:bodyPr vert="horz" wrap="square" lIns="0" tIns="17145" rIns="0" bIns="0" rtlCol="0">
            <a:spAutoFit/>
          </a:bodyPr>
          <a:lstStyle/>
          <a:p>
            <a:pPr marL="12700" algn="ctr">
              <a:lnSpc>
                <a:spcPct val="100000"/>
              </a:lnSpc>
              <a:spcBef>
                <a:spcPts val="135"/>
              </a:spcBef>
            </a:pPr>
            <a:r>
              <a:rPr lang="en-IN" spc="-10" dirty="0" err="1"/>
              <a:t>NewsRankAI</a:t>
            </a:r>
            <a:endParaRPr spc="-10" dirty="0"/>
          </a:p>
        </p:txBody>
      </p:sp>
      <p:sp>
        <p:nvSpPr>
          <p:cNvPr id="3" name="object 3"/>
          <p:cNvSpPr txBox="1"/>
          <p:nvPr/>
        </p:nvSpPr>
        <p:spPr>
          <a:xfrm>
            <a:off x="1981200" y="3062444"/>
            <a:ext cx="6781800" cy="2005676"/>
          </a:xfrm>
          <a:prstGeom prst="rect">
            <a:avLst/>
          </a:prstGeom>
        </p:spPr>
        <p:txBody>
          <a:bodyPr vert="horz" wrap="square" lIns="0" tIns="55879" rIns="0" bIns="0" rtlCol="0">
            <a:spAutoFit/>
          </a:bodyPr>
          <a:lstStyle/>
          <a:p>
            <a:pPr marL="12700" marR="5080" algn="ctr">
              <a:lnSpc>
                <a:spcPts val="3450"/>
              </a:lnSpc>
              <a:spcBef>
                <a:spcPts val="439"/>
              </a:spcBef>
              <a:tabLst>
                <a:tab pos="2940685" algn="l"/>
              </a:tabLst>
            </a:pPr>
            <a:r>
              <a:rPr lang="en-IN" sz="3100" b="1" dirty="0">
                <a:latin typeface="Times New Roman"/>
                <a:cs typeface="Times New Roman"/>
              </a:rPr>
              <a:t>Agrima Gupte	-</a:t>
            </a:r>
            <a:r>
              <a:rPr lang="en-IN" sz="3100" b="1" spc="-20" dirty="0">
                <a:latin typeface="Times New Roman"/>
                <a:cs typeface="Times New Roman"/>
              </a:rPr>
              <a:t> </a:t>
            </a:r>
            <a:r>
              <a:rPr lang="en-IN" sz="3100" b="1" spc="-10" dirty="0">
                <a:latin typeface="Times New Roman"/>
                <a:cs typeface="Times New Roman"/>
              </a:rPr>
              <a:t>23107044</a:t>
            </a:r>
          </a:p>
          <a:p>
            <a:pPr marL="12700" marR="5080" algn="ctr">
              <a:lnSpc>
                <a:spcPts val="3450"/>
              </a:lnSpc>
              <a:spcBef>
                <a:spcPts val="439"/>
              </a:spcBef>
              <a:tabLst>
                <a:tab pos="2940685" algn="l"/>
              </a:tabLst>
            </a:pPr>
            <a:r>
              <a:rPr lang="en-IN" sz="3100" b="1" spc="-50" dirty="0">
                <a:latin typeface="Times New Roman"/>
                <a:cs typeface="Times New Roman"/>
              </a:rPr>
              <a:t>Durvesh Wagle   - 23107019</a:t>
            </a:r>
          </a:p>
          <a:p>
            <a:pPr marL="12700" marR="5080" algn="ctr">
              <a:lnSpc>
                <a:spcPts val="3450"/>
              </a:lnSpc>
              <a:spcBef>
                <a:spcPts val="439"/>
              </a:spcBef>
              <a:tabLst>
                <a:tab pos="2940685" algn="l"/>
              </a:tabLst>
            </a:pPr>
            <a:r>
              <a:rPr lang="en-IN" sz="3100" b="1" spc="-50" dirty="0">
                <a:latin typeface="Times New Roman"/>
                <a:cs typeface="Times New Roman"/>
              </a:rPr>
              <a:t>Ahan Upadhye    - 23107027</a:t>
            </a:r>
          </a:p>
          <a:p>
            <a:pPr marL="12700" marR="5080" algn="ctr">
              <a:lnSpc>
                <a:spcPts val="3450"/>
              </a:lnSpc>
              <a:spcBef>
                <a:spcPts val="439"/>
              </a:spcBef>
              <a:tabLst>
                <a:tab pos="2940685" algn="l"/>
              </a:tabLst>
            </a:pPr>
            <a:r>
              <a:rPr lang="en-IN" sz="3100" b="1" spc="-50" dirty="0">
                <a:latin typeface="Times New Roman"/>
                <a:cs typeface="Times New Roman"/>
              </a:rPr>
              <a:t>Riddhi Pise           - 23107087</a:t>
            </a:r>
            <a:endParaRPr lang="en-IN" sz="3100" dirty="0">
              <a:latin typeface="Times New Roman"/>
              <a:cs typeface="Times New Roman"/>
            </a:endParaRPr>
          </a:p>
        </p:txBody>
      </p:sp>
      <p:sp>
        <p:nvSpPr>
          <p:cNvPr id="6" name="object 6"/>
          <p:cNvSpPr txBox="1"/>
          <p:nvPr/>
        </p:nvSpPr>
        <p:spPr>
          <a:xfrm>
            <a:off x="3407735" y="5739869"/>
            <a:ext cx="2829119" cy="770724"/>
          </a:xfrm>
          <a:prstGeom prst="rect">
            <a:avLst/>
          </a:prstGeom>
        </p:spPr>
        <p:txBody>
          <a:bodyPr vert="horz" wrap="square" lIns="0" tIns="13970" rIns="0" bIns="0" rtlCol="0">
            <a:spAutoFit/>
          </a:bodyPr>
          <a:lstStyle/>
          <a:p>
            <a:pPr marL="12700" algn="ctr">
              <a:lnSpc>
                <a:spcPts val="3170"/>
              </a:lnSpc>
              <a:spcBef>
                <a:spcPts val="110"/>
              </a:spcBef>
            </a:pPr>
            <a:r>
              <a:rPr lang="en-GB" sz="2700" b="1" spc="-20" dirty="0">
                <a:latin typeface="Times New Roman"/>
                <a:cs typeface="Times New Roman"/>
              </a:rPr>
              <a:t>    </a:t>
            </a:r>
            <a:r>
              <a:rPr sz="2700" b="1" spc="-20" dirty="0">
                <a:latin typeface="Times New Roman"/>
                <a:cs typeface="Times New Roman"/>
              </a:rPr>
              <a:t>Project</a:t>
            </a:r>
            <a:r>
              <a:rPr sz="2700" b="1" spc="-120" dirty="0">
                <a:latin typeface="Times New Roman"/>
                <a:cs typeface="Times New Roman"/>
              </a:rPr>
              <a:t> </a:t>
            </a:r>
            <a:r>
              <a:rPr sz="2700" b="1" spc="-45" dirty="0">
                <a:latin typeface="Times New Roman"/>
                <a:cs typeface="Times New Roman"/>
              </a:rPr>
              <a:t>Guide</a:t>
            </a:r>
            <a:endParaRPr sz="2700" dirty="0">
              <a:latin typeface="Times New Roman"/>
              <a:cs typeface="Times New Roman"/>
            </a:endParaRPr>
          </a:p>
          <a:p>
            <a:pPr marL="32384" algn="ctr">
              <a:lnSpc>
                <a:spcPts val="2690"/>
              </a:lnSpc>
            </a:pPr>
            <a:r>
              <a:rPr sz="2300" b="1" spc="50" dirty="0">
                <a:latin typeface="Times New Roman"/>
                <a:cs typeface="Times New Roman"/>
              </a:rPr>
              <a:t>M</a:t>
            </a:r>
            <a:r>
              <a:rPr lang="en-GB" sz="2300" b="1" spc="50" dirty="0">
                <a:latin typeface="Times New Roman"/>
                <a:cs typeface="Times New Roman"/>
              </a:rPr>
              <a:t>r. Ujwala </a:t>
            </a:r>
            <a:r>
              <a:rPr lang="en-GB" sz="2300" b="1" spc="50" dirty="0" err="1">
                <a:latin typeface="Times New Roman"/>
                <a:cs typeface="Times New Roman"/>
              </a:rPr>
              <a:t>Pagare</a:t>
            </a:r>
            <a:endParaRPr sz="2300" dirty="0">
              <a:latin typeface="Times New Roman"/>
              <a:cs typeface="Times New Roman"/>
            </a:endParaRPr>
          </a:p>
        </p:txBody>
      </p:sp>
      <p:grpSp>
        <p:nvGrpSpPr>
          <p:cNvPr id="7" name="object 7"/>
          <p:cNvGrpSpPr/>
          <p:nvPr/>
        </p:nvGrpSpPr>
        <p:grpSpPr>
          <a:xfrm>
            <a:off x="0" y="141596"/>
            <a:ext cx="9753600" cy="1559560"/>
            <a:chOff x="0" y="141596"/>
            <a:chExt cx="9753600" cy="1559560"/>
          </a:xfrm>
        </p:grpSpPr>
        <p:sp>
          <p:nvSpPr>
            <p:cNvPr id="8" name="object 8"/>
            <p:cNvSpPr/>
            <p:nvPr/>
          </p:nvSpPr>
          <p:spPr>
            <a:xfrm>
              <a:off x="0" y="1676318"/>
              <a:ext cx="9753600" cy="24765"/>
            </a:xfrm>
            <a:custGeom>
              <a:avLst/>
              <a:gdLst/>
              <a:ahLst/>
              <a:cxnLst/>
              <a:rect l="l" t="t" r="r" b="b"/>
              <a:pathLst>
                <a:path w="9753600" h="24764">
                  <a:moveTo>
                    <a:pt x="9753599" y="24764"/>
                  </a:moveTo>
                  <a:lnTo>
                    <a:pt x="0" y="24764"/>
                  </a:lnTo>
                  <a:lnTo>
                    <a:pt x="0" y="0"/>
                  </a:lnTo>
                  <a:lnTo>
                    <a:pt x="9753599" y="0"/>
                  </a:lnTo>
                  <a:lnTo>
                    <a:pt x="9753599" y="24764"/>
                  </a:lnTo>
                  <a:close/>
                </a:path>
              </a:pathLst>
            </a:custGeom>
            <a:solidFill>
              <a:srgbClr val="000000"/>
            </a:solidFill>
          </p:spPr>
          <p:txBody>
            <a:bodyPr wrap="square" lIns="0" tIns="0" rIns="0" bIns="0" rtlCol="0"/>
            <a:lstStyle/>
            <a:p>
              <a:endParaRPr/>
            </a:p>
          </p:txBody>
        </p:sp>
        <p:pic>
          <p:nvPicPr>
            <p:cNvPr id="9" name="object 9"/>
            <p:cNvPicPr/>
            <p:nvPr/>
          </p:nvPicPr>
          <p:blipFill>
            <a:blip r:embed="rId2" cstate="print"/>
            <a:stretch>
              <a:fillRect/>
            </a:stretch>
          </p:blipFill>
          <p:spPr>
            <a:xfrm>
              <a:off x="1045933" y="141596"/>
              <a:ext cx="7445194" cy="1521947"/>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0" dirty="0"/>
              <a:t>Sustainable</a:t>
            </a:r>
            <a:r>
              <a:rPr spc="-85" dirty="0"/>
              <a:t> </a:t>
            </a:r>
            <a:r>
              <a:rPr spc="-45" dirty="0"/>
              <a:t>Development</a:t>
            </a:r>
            <a:r>
              <a:rPr spc="-80" dirty="0"/>
              <a:t> </a:t>
            </a:r>
            <a:r>
              <a:rPr dirty="0"/>
              <a:t>Goals</a:t>
            </a:r>
            <a:r>
              <a:rPr spc="-80" dirty="0"/>
              <a:t> </a:t>
            </a:r>
            <a:r>
              <a:rPr spc="-10" dirty="0"/>
              <a:t>(SDG)Mapped</a:t>
            </a:r>
          </a:p>
        </p:txBody>
      </p:sp>
      <p:sp>
        <p:nvSpPr>
          <p:cNvPr id="3" name="object 3"/>
          <p:cNvSpPr txBox="1"/>
          <p:nvPr/>
        </p:nvSpPr>
        <p:spPr>
          <a:xfrm>
            <a:off x="304800" y="1295400"/>
            <a:ext cx="8534400" cy="4153445"/>
          </a:xfrm>
          <a:prstGeom prst="rect">
            <a:avLst/>
          </a:prstGeom>
        </p:spPr>
        <p:txBody>
          <a:bodyPr vert="horz" wrap="square" lIns="0" tIns="45720" rIns="0" bIns="0" rtlCol="0">
            <a:spAutoFit/>
          </a:bodyPr>
          <a:lstStyle/>
          <a:p>
            <a:pPr algn="just">
              <a:lnSpc>
                <a:spcPct val="150000"/>
              </a:lnSpc>
            </a:pPr>
            <a:r>
              <a:rPr lang="en-GB" sz="2000" b="1" dirty="0">
                <a:latin typeface="Times New Roman" panose="02020603050405020304" pitchFamily="18" charset="0"/>
                <a:cs typeface="Times New Roman" panose="02020603050405020304" pitchFamily="18" charset="0"/>
              </a:rPr>
              <a:t>SDG 4 </a:t>
            </a:r>
            <a:r>
              <a:rPr lang="en-IN" sz="2000" b="1" dirty="0">
                <a:latin typeface="Times New Roman" panose="02020603050405020304" pitchFamily="18" charset="0"/>
                <a:cs typeface="Times New Roman" panose="02020603050405020304" pitchFamily="18" charset="0"/>
              </a:rPr>
              <a:t>– Quality Education</a:t>
            </a:r>
            <a:endParaRPr lang="en-GB"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project promotes learning and research in fields like AI, machine learning, and natural language processing.</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helps students understand how technology can be used to analyze textual data.</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can be used as an educational tool for studying news trends and categories.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supports the development of technical skills and knowledge in data analysis and AI. </a:t>
            </a:r>
          </a:p>
          <a:p>
            <a:pPr marL="285750" indent="-285750" algn="just">
              <a:lnSpc>
                <a:spcPct val="150000"/>
              </a:lnSpc>
              <a:buFont typeface="Arial" panose="020B0604020202020204" pitchFamily="34" charset="0"/>
              <a:buChar char="•"/>
            </a:pPr>
            <a:endParaRPr sz="20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0" dirty="0"/>
              <a:t>Sustainable</a:t>
            </a:r>
            <a:r>
              <a:rPr spc="-85" dirty="0"/>
              <a:t> </a:t>
            </a:r>
            <a:r>
              <a:rPr spc="-45" dirty="0"/>
              <a:t>Development</a:t>
            </a:r>
            <a:r>
              <a:rPr spc="-80" dirty="0"/>
              <a:t> </a:t>
            </a:r>
            <a:r>
              <a:rPr dirty="0"/>
              <a:t>Goals</a:t>
            </a:r>
            <a:r>
              <a:rPr spc="-80" dirty="0"/>
              <a:t> </a:t>
            </a:r>
            <a:r>
              <a:rPr spc="-10" dirty="0"/>
              <a:t>(SDG)Mapped</a:t>
            </a:r>
          </a:p>
        </p:txBody>
      </p:sp>
      <p:sp>
        <p:nvSpPr>
          <p:cNvPr id="3" name="object 3"/>
          <p:cNvSpPr txBox="1"/>
          <p:nvPr/>
        </p:nvSpPr>
        <p:spPr>
          <a:xfrm>
            <a:off x="304800" y="1295400"/>
            <a:ext cx="8534400" cy="4350678"/>
          </a:xfrm>
          <a:prstGeom prst="rect">
            <a:avLst/>
          </a:prstGeom>
        </p:spPr>
        <p:txBody>
          <a:bodyPr vert="horz" wrap="square" lIns="0" tIns="45720" rIns="0" bIns="0" rtlCol="0">
            <a:spAutoFit/>
          </a:bodyPr>
          <a:lstStyle/>
          <a:p>
            <a:pPr algn="just">
              <a:lnSpc>
                <a:spcPct val="150000"/>
              </a:lnSpc>
            </a:pPr>
            <a:r>
              <a:rPr lang="en-GB" sz="2000" b="1" dirty="0">
                <a:latin typeface="Times New Roman" panose="02020603050405020304" pitchFamily="18" charset="0"/>
                <a:cs typeface="Times New Roman" panose="02020603050405020304" pitchFamily="18" charset="0"/>
              </a:rPr>
              <a:t>SDG 4 </a:t>
            </a:r>
            <a:r>
              <a:rPr lang="en-IN" sz="2000" b="1" dirty="0">
                <a:latin typeface="Times New Roman" panose="02020603050405020304" pitchFamily="18" charset="0"/>
                <a:cs typeface="Times New Roman" panose="02020603050405020304" pitchFamily="18" charset="0"/>
              </a:rPr>
              <a:t>– Industry, Innovation and Infrastructure</a:t>
            </a:r>
          </a:p>
          <a:p>
            <a:pPr marL="355600" marR="148590" indent="-342900">
              <a:lnSpc>
                <a:spcPct val="150000"/>
              </a:lnSpc>
              <a:spcBef>
                <a:spcPts val="36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uses artificial intelligence and machine learning to build an innovative digital system.</a:t>
            </a:r>
          </a:p>
          <a:p>
            <a:pPr marL="355600" marR="148590" indent="-342900">
              <a:lnSpc>
                <a:spcPct val="150000"/>
              </a:lnSpc>
              <a:spcBef>
                <a:spcPts val="36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helps automate the process of organizing and classifying large amounts of news data.</a:t>
            </a:r>
          </a:p>
          <a:p>
            <a:pPr marL="355600" marR="148590" indent="-342900">
              <a:lnSpc>
                <a:spcPct val="150000"/>
              </a:lnSpc>
              <a:spcBef>
                <a:spcPts val="36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improves digital infrastructure by providing a smart web-based news analysis platform.</a:t>
            </a:r>
          </a:p>
          <a:p>
            <a:pPr marL="355600" marR="148590" indent="-342900">
              <a:lnSpc>
                <a:spcPct val="150000"/>
              </a:lnSpc>
              <a:spcBef>
                <a:spcPts val="36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encourages the use of modern technologies for developing intelligent information systems.</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35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9816" y="4346078"/>
            <a:ext cx="476884" cy="2972435"/>
          </a:xfrm>
          <a:custGeom>
            <a:avLst/>
            <a:gdLst/>
            <a:ahLst/>
            <a:cxnLst/>
            <a:rect l="l" t="t" r="r" b="b"/>
            <a:pathLst>
              <a:path w="476884" h="2972434">
                <a:moveTo>
                  <a:pt x="476609" y="2971823"/>
                </a:moveTo>
                <a:lnTo>
                  <a:pt x="0" y="2971823"/>
                </a:lnTo>
                <a:lnTo>
                  <a:pt x="0" y="0"/>
                </a:lnTo>
                <a:lnTo>
                  <a:pt x="476609" y="2971823"/>
                </a:lnTo>
                <a:close/>
              </a:path>
            </a:pathLst>
          </a:custGeom>
          <a:solidFill>
            <a:srgbClr val="5ECBEF">
              <a:alpha val="69999"/>
            </a:srgbClr>
          </a:solidFill>
        </p:spPr>
        <p:txBody>
          <a:bodyPr wrap="square" lIns="0" tIns="0" rIns="0" bIns="0" rtlCol="0"/>
          <a:lstStyle/>
          <a:p>
            <a:endParaRPr/>
          </a:p>
        </p:txBody>
      </p:sp>
      <p:grpSp>
        <p:nvGrpSpPr>
          <p:cNvPr id="6" name="object 6"/>
          <p:cNvGrpSpPr/>
          <p:nvPr/>
        </p:nvGrpSpPr>
        <p:grpSpPr>
          <a:xfrm>
            <a:off x="5485036" y="-4761"/>
            <a:ext cx="4273550" cy="7324725"/>
            <a:chOff x="5485036" y="-4761"/>
            <a:chExt cx="4273550" cy="7324725"/>
          </a:xfrm>
        </p:grpSpPr>
        <p:sp>
          <p:nvSpPr>
            <p:cNvPr id="7" name="object 7"/>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8" name="object 8"/>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9" name="object 9"/>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10" name="object 10"/>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1" name="object 11"/>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2" name="object 12"/>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3" name="object 13"/>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4" name="object 14"/>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5" name="object 15"/>
          <p:cNvSpPr txBox="1">
            <a:spLocks noGrp="1"/>
          </p:cNvSpPr>
          <p:nvPr>
            <p:ph type="title"/>
          </p:nvPr>
        </p:nvSpPr>
        <p:spPr>
          <a:xfrm>
            <a:off x="474867" y="531973"/>
            <a:ext cx="2304415" cy="556895"/>
          </a:xfrm>
          <a:prstGeom prst="rect">
            <a:avLst/>
          </a:prstGeom>
        </p:spPr>
        <p:txBody>
          <a:bodyPr vert="horz" wrap="square" lIns="0" tIns="17145" rIns="0" bIns="0" rtlCol="0">
            <a:spAutoFit/>
          </a:bodyPr>
          <a:lstStyle/>
          <a:p>
            <a:pPr marL="12700">
              <a:lnSpc>
                <a:spcPct val="100000"/>
              </a:lnSpc>
              <a:spcBef>
                <a:spcPts val="135"/>
              </a:spcBef>
            </a:pPr>
            <a:r>
              <a:rPr spc="-65" dirty="0"/>
              <a:t>Introduction</a:t>
            </a:r>
          </a:p>
        </p:txBody>
      </p:sp>
      <p:sp>
        <p:nvSpPr>
          <p:cNvPr id="21" name="object 21"/>
          <p:cNvSpPr txBox="1"/>
          <p:nvPr/>
        </p:nvSpPr>
        <p:spPr>
          <a:xfrm>
            <a:off x="307816" y="1295400"/>
            <a:ext cx="8912384" cy="4175951"/>
          </a:xfrm>
          <a:prstGeom prst="rect">
            <a:avLst/>
          </a:prstGeom>
        </p:spPr>
        <p:txBody>
          <a:bodyPr vert="horz" wrap="square" lIns="0" tIns="12065" rIns="0" bIns="0" rtlCol="0">
            <a:spAutoFit/>
          </a:bodyPr>
          <a:lstStyle/>
          <a:p>
            <a:pPr marL="355600" indent="-342900" algn="just">
              <a:lnSpc>
                <a:spcPct val="150000"/>
              </a:lnSpc>
              <a:spcBef>
                <a:spcPts val="95"/>
              </a:spcBef>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NewsRankAI</a:t>
            </a:r>
            <a:r>
              <a:rPr lang="en-US" sz="2000" dirty="0">
                <a:latin typeface="Times New Roman" panose="02020603050405020304" pitchFamily="18" charset="0"/>
                <a:cs typeface="Times New Roman" panose="02020603050405020304" pitchFamily="18" charset="0"/>
              </a:rPr>
              <a:t> is a web application that uses machine learning to classify news headlines into categories like politics, sports, business, and technology.</a:t>
            </a:r>
          </a:p>
          <a:p>
            <a:pPr marL="355600" indent="-342900" algn="just">
              <a:lnSpc>
                <a:spcPct val="150000"/>
              </a:lnSpc>
              <a:spcBef>
                <a:spcPts val="9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enter a news headline and the system automatically predicts its category.</a:t>
            </a:r>
          </a:p>
          <a:p>
            <a:pPr marL="355600" indent="-342900" algn="just">
              <a:lnSpc>
                <a:spcPct val="150000"/>
              </a:lnSpc>
              <a:spcBef>
                <a:spcPts val="9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also includes a dashboard and history section to view analytics and previous predictions.</a:t>
            </a:r>
          </a:p>
          <a:p>
            <a:pPr marL="355600" indent="-342900" algn="just">
              <a:lnSpc>
                <a:spcPct val="150000"/>
              </a:lnSpc>
              <a:spcBef>
                <a:spcPts val="9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helps organize news content efficiently and makes it easier to understand large amounts of news data.</a:t>
            </a:r>
          </a:p>
          <a:p>
            <a:pPr marL="355600" indent="-342900" algn="just">
              <a:lnSpc>
                <a:spcPct val="150000"/>
              </a:lnSpc>
              <a:spcBef>
                <a:spcPts val="95"/>
              </a:spcBef>
              <a:buFont typeface="Arial" panose="020B0604020202020204" pitchFamily="34" charset="0"/>
              <a:buChar char="•"/>
            </a:pPr>
            <a:endParaRPr lang="en-GB" sz="2000" spc="-10" dirty="0">
              <a:latin typeface="Times New Roman" panose="02020603050405020304" pitchFamily="18" charset="0"/>
              <a:cs typeface="Times New Roman" panose="02020603050405020304" pitchFamily="18" charset="0"/>
            </a:endParaRPr>
          </a:p>
          <a:p>
            <a:pPr marL="12700" algn="just">
              <a:lnSpc>
                <a:spcPct val="150000"/>
              </a:lnSpc>
              <a:spcBef>
                <a:spcPts val="95"/>
              </a:spcBef>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867" y="531973"/>
            <a:ext cx="2304415" cy="556895"/>
          </a:xfrm>
          <a:prstGeom prst="rect">
            <a:avLst/>
          </a:prstGeom>
        </p:spPr>
        <p:txBody>
          <a:bodyPr vert="horz" wrap="square" lIns="0" tIns="17145" rIns="0" bIns="0" rtlCol="0">
            <a:spAutoFit/>
          </a:bodyPr>
          <a:lstStyle/>
          <a:p>
            <a:pPr marL="12700">
              <a:lnSpc>
                <a:spcPct val="100000"/>
              </a:lnSpc>
              <a:spcBef>
                <a:spcPts val="135"/>
              </a:spcBef>
            </a:pPr>
            <a:r>
              <a:rPr spc="-65" dirty="0"/>
              <a:t>Introduction</a:t>
            </a:r>
          </a:p>
        </p:txBody>
      </p:sp>
      <p:sp>
        <p:nvSpPr>
          <p:cNvPr id="7" name="object 7"/>
          <p:cNvSpPr txBox="1"/>
          <p:nvPr/>
        </p:nvSpPr>
        <p:spPr>
          <a:xfrm>
            <a:off x="495471" y="1066800"/>
            <a:ext cx="8328659" cy="5684057"/>
          </a:xfrm>
          <a:prstGeom prst="rect">
            <a:avLst/>
          </a:prstGeom>
        </p:spPr>
        <p:txBody>
          <a:bodyPr vert="horz" wrap="square" lIns="0" tIns="17145" rIns="0" bIns="0" rtlCol="0">
            <a:spAutoFit/>
          </a:bodyPr>
          <a:lstStyle/>
          <a:p>
            <a:pPr marL="12700">
              <a:lnSpc>
                <a:spcPct val="150000"/>
              </a:lnSpc>
              <a:spcBef>
                <a:spcPts val="135"/>
              </a:spcBef>
            </a:pPr>
            <a:r>
              <a:rPr sz="2400" b="1" spc="50" dirty="0">
                <a:latin typeface="Times New Roman" panose="02020603050405020304" pitchFamily="18" charset="0"/>
                <a:cs typeface="Times New Roman" panose="02020603050405020304" pitchFamily="18" charset="0"/>
              </a:rPr>
              <a:t>Objectives:-</a:t>
            </a:r>
            <a:endParaRPr lang="en-GB" sz="2400" b="1" spc="50" dirty="0">
              <a:latin typeface="Times New Roman" panose="02020603050405020304" pitchFamily="18" charset="0"/>
              <a:cs typeface="Times New Roman" panose="02020603050405020304" pitchFamily="18" charset="0"/>
            </a:endParaRPr>
          </a:p>
          <a:p>
            <a:pPr marL="12700" algn="just">
              <a:lnSpc>
                <a:spcPct val="150000"/>
              </a:lnSpc>
              <a:spcBef>
                <a:spcPts val="135"/>
              </a:spcBef>
            </a:pPr>
            <a:r>
              <a:rPr lang="en-US" sz="2000" b="1" dirty="0">
                <a:latin typeface="Times New Roman" panose="02020603050405020304" pitchFamily="18" charset="0"/>
                <a:cs typeface="Times New Roman" panose="02020603050405020304" pitchFamily="18" charset="0"/>
              </a:rPr>
              <a:t>1.News Article Data Collection and Preprocessing</a:t>
            </a:r>
            <a:endParaRPr lang="en-GB" sz="2000" b="1" dirty="0">
              <a:latin typeface="Times New Roman" panose="02020603050405020304" pitchFamily="18" charset="0"/>
              <a:cs typeface="Times New Roman" panose="02020603050405020304" pitchFamily="18" charset="0"/>
            </a:endParaRP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news articles from datasets or APIs.</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 text data into numerical features using techniques like TF-IDF or word embeddings.</a:t>
            </a:r>
          </a:p>
          <a:p>
            <a:pPr marL="12700" algn="just">
              <a:lnSpc>
                <a:spcPct val="150000"/>
              </a:lnSpc>
              <a:spcBef>
                <a:spcPts val="135"/>
              </a:spcBef>
            </a:pPr>
            <a:r>
              <a:rPr lang="en-IN" sz="2000" b="1" dirty="0">
                <a:latin typeface="Times New Roman" panose="02020603050405020304" pitchFamily="18" charset="0"/>
                <a:cs typeface="Times New Roman" panose="02020603050405020304" pitchFamily="18" charset="0"/>
              </a:rPr>
              <a:t>2.Automatic News Categorization</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 a machine learning classifier such as NLP, Logistic Regression, or Support Vector Machine</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 the model performance using metrics such as accuracy, precision, recall, and F1-score.</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Classify news articles into categories like Politics, Sports, Business, and Technology</a:t>
            </a:r>
            <a:r>
              <a:rPr lang="en-US"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EBCB-5BEA-CF38-A093-7703893856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CDFD05-7608-F558-45AF-A3B4C9437925}"/>
              </a:ext>
            </a:extLst>
          </p:cNvPr>
          <p:cNvSpPr txBox="1">
            <a:spLocks noGrp="1"/>
          </p:cNvSpPr>
          <p:nvPr>
            <p:ph type="title"/>
          </p:nvPr>
        </p:nvSpPr>
        <p:spPr>
          <a:xfrm>
            <a:off x="474867" y="531973"/>
            <a:ext cx="2304415" cy="556895"/>
          </a:xfrm>
          <a:prstGeom prst="rect">
            <a:avLst/>
          </a:prstGeom>
        </p:spPr>
        <p:txBody>
          <a:bodyPr vert="horz" wrap="square" lIns="0" tIns="17145" rIns="0" bIns="0" rtlCol="0">
            <a:spAutoFit/>
          </a:bodyPr>
          <a:lstStyle/>
          <a:p>
            <a:pPr marL="12700">
              <a:lnSpc>
                <a:spcPct val="100000"/>
              </a:lnSpc>
              <a:spcBef>
                <a:spcPts val="135"/>
              </a:spcBef>
            </a:pPr>
            <a:r>
              <a:rPr spc="-65" dirty="0"/>
              <a:t>Introduction</a:t>
            </a:r>
          </a:p>
        </p:txBody>
      </p:sp>
      <p:sp>
        <p:nvSpPr>
          <p:cNvPr id="7" name="object 7">
            <a:extLst>
              <a:ext uri="{FF2B5EF4-FFF2-40B4-BE49-F238E27FC236}">
                <a16:creationId xmlns:a16="http://schemas.microsoft.com/office/drawing/2014/main" id="{819FB2C5-A405-D424-5FE4-46BBCC980BEB}"/>
              </a:ext>
            </a:extLst>
          </p:cNvPr>
          <p:cNvSpPr txBox="1"/>
          <p:nvPr/>
        </p:nvSpPr>
        <p:spPr>
          <a:xfrm>
            <a:off x="495471" y="1066800"/>
            <a:ext cx="8328659" cy="4760727"/>
          </a:xfrm>
          <a:prstGeom prst="rect">
            <a:avLst/>
          </a:prstGeom>
        </p:spPr>
        <p:txBody>
          <a:bodyPr vert="horz" wrap="square" lIns="0" tIns="17145" rIns="0" bIns="0" rtlCol="0">
            <a:spAutoFit/>
          </a:bodyPr>
          <a:lstStyle/>
          <a:p>
            <a:pPr marL="12700">
              <a:lnSpc>
                <a:spcPct val="150000"/>
              </a:lnSpc>
              <a:spcBef>
                <a:spcPts val="135"/>
              </a:spcBef>
            </a:pPr>
            <a:r>
              <a:rPr sz="2400" b="1" spc="50" dirty="0">
                <a:latin typeface="Times New Roman" panose="02020603050405020304" pitchFamily="18" charset="0"/>
                <a:cs typeface="Times New Roman" panose="02020603050405020304" pitchFamily="18" charset="0"/>
              </a:rPr>
              <a:t>Objectives:-</a:t>
            </a:r>
            <a:endParaRPr lang="en-GB" sz="2400" b="1" spc="50" dirty="0">
              <a:latin typeface="Times New Roman" panose="02020603050405020304" pitchFamily="18" charset="0"/>
              <a:cs typeface="Times New Roman" panose="02020603050405020304" pitchFamily="18" charset="0"/>
            </a:endParaRPr>
          </a:p>
          <a:p>
            <a:pPr marL="12700" algn="just">
              <a:lnSpc>
                <a:spcPct val="150000"/>
              </a:lnSpc>
              <a:spcBef>
                <a:spcPts val="135"/>
              </a:spcBef>
            </a:pPr>
            <a:r>
              <a:rPr lang="en-US" sz="2000" b="1" dirty="0">
                <a:latin typeface="Times New Roman" panose="02020603050405020304" pitchFamily="18" charset="0"/>
                <a:cs typeface="Times New Roman" panose="02020603050405020304" pitchFamily="18" charset="0"/>
              </a:rPr>
              <a:t>3.</a:t>
            </a:r>
            <a:r>
              <a:rPr lang="en-IN" sz="2000" b="1" dirty="0">
                <a:latin typeface="Times New Roman" panose="02020603050405020304" pitchFamily="18" charset="0"/>
                <a:cs typeface="Times New Roman" panose="02020603050405020304" pitchFamily="18" charset="0"/>
              </a:rPr>
              <a:t> News Article Ranking Mechanism</a:t>
            </a:r>
            <a:endParaRPr lang="en-GB" sz="2000" b="1" dirty="0">
              <a:latin typeface="Times New Roman" panose="02020603050405020304" pitchFamily="18" charset="0"/>
              <a:cs typeface="Times New Roman" panose="02020603050405020304" pitchFamily="18" charset="0"/>
            </a:endParaRP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Rank articles within each category based on relevance.</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features such as keyword frequency, article length, recency, or popularity score.</a:t>
            </a:r>
          </a:p>
          <a:p>
            <a:pPr marL="12700" algn="just">
              <a:lnSpc>
                <a:spcPct val="150000"/>
              </a:lnSpc>
              <a:spcBef>
                <a:spcPts val="135"/>
              </a:spcBef>
            </a:pPr>
            <a:r>
              <a:rPr lang="en-IN" sz="2000" b="1" dirty="0">
                <a:latin typeface="Times New Roman" panose="02020603050405020304" pitchFamily="18" charset="0"/>
                <a:cs typeface="Times New Roman" panose="02020603050405020304" pitchFamily="18" charset="0"/>
              </a:rPr>
              <a:t>4. User-Friendly Output and Visualization</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Display categorized and ranked news articles in an easy-to-understand format.</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Show category-wise top-N news articles.</a:t>
            </a:r>
          </a:p>
          <a:p>
            <a:pPr marL="355600" indent="-342900" algn="just">
              <a:lnSpc>
                <a:spcPct val="150000"/>
              </a:lnSpc>
              <a:spcBef>
                <a:spcPts val="135"/>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simple visual insights such as bar charts for categories or ranked list views.</a:t>
            </a:r>
          </a:p>
        </p:txBody>
      </p:sp>
    </p:spTree>
    <p:extLst>
      <p:ext uri="{BB962C8B-B14F-4D97-AF65-F5344CB8AC3E}">
        <p14:creationId xmlns:p14="http://schemas.microsoft.com/office/powerpoint/2010/main" val="3120165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2335-043C-B578-09DF-FADA82C90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60465-1DE3-ADE9-4C4C-486CD570F198}"/>
              </a:ext>
            </a:extLst>
          </p:cNvPr>
          <p:cNvSpPr>
            <a:spLocks noGrp="1"/>
          </p:cNvSpPr>
          <p:nvPr>
            <p:ph type="ctrTitle"/>
          </p:nvPr>
        </p:nvSpPr>
        <p:spPr>
          <a:xfrm>
            <a:off x="609600" y="381000"/>
            <a:ext cx="8290560" cy="530915"/>
          </a:xfrm>
        </p:spPr>
        <p:txBody>
          <a:bodyPr/>
          <a:lstStyle/>
          <a:p>
            <a:r>
              <a:rPr lang="en-US" spc="-45" dirty="0"/>
              <a:t>Literature</a:t>
            </a:r>
            <a:r>
              <a:rPr lang="en-US" spc="-100" dirty="0"/>
              <a:t> </a:t>
            </a:r>
            <a:r>
              <a:rPr lang="en-US" spc="-35" dirty="0"/>
              <a:t>Survey</a:t>
            </a:r>
            <a:r>
              <a:rPr lang="en-US" spc="-100" dirty="0"/>
              <a:t> </a:t>
            </a:r>
            <a:r>
              <a:rPr lang="en-US" dirty="0"/>
              <a:t>of</a:t>
            </a:r>
            <a:r>
              <a:rPr lang="en-US" spc="-100" dirty="0"/>
              <a:t> </a:t>
            </a:r>
            <a:r>
              <a:rPr lang="en-US" dirty="0"/>
              <a:t>the</a:t>
            </a:r>
            <a:r>
              <a:rPr lang="en-US" spc="-100" dirty="0"/>
              <a:t> </a:t>
            </a:r>
            <a:r>
              <a:rPr lang="en-US" dirty="0"/>
              <a:t>existing</a:t>
            </a:r>
            <a:r>
              <a:rPr lang="en-US" spc="-100" dirty="0"/>
              <a:t> </a:t>
            </a:r>
            <a:r>
              <a:rPr lang="en-US" spc="-10" dirty="0"/>
              <a:t>system</a:t>
            </a:r>
            <a:endParaRPr lang="en-IN" dirty="0"/>
          </a:p>
        </p:txBody>
      </p:sp>
      <p:graphicFrame>
        <p:nvGraphicFramePr>
          <p:cNvPr id="4" name="Table 3">
            <a:extLst>
              <a:ext uri="{FF2B5EF4-FFF2-40B4-BE49-F238E27FC236}">
                <a16:creationId xmlns:a16="http://schemas.microsoft.com/office/drawing/2014/main" id="{005DC8C5-BB11-71A9-FF11-A129091B6CD6}"/>
              </a:ext>
            </a:extLst>
          </p:cNvPr>
          <p:cNvGraphicFramePr>
            <a:graphicFrameLocks noGrp="1"/>
          </p:cNvGraphicFramePr>
          <p:nvPr>
            <p:extLst>
              <p:ext uri="{D42A27DB-BD31-4B8C-83A1-F6EECF244321}">
                <p14:modId xmlns:p14="http://schemas.microsoft.com/office/powerpoint/2010/main" val="215704212"/>
              </p:ext>
            </p:extLst>
          </p:nvPr>
        </p:nvGraphicFramePr>
        <p:xfrm>
          <a:off x="138747" y="1066800"/>
          <a:ext cx="9519286" cy="5480320"/>
        </p:xfrm>
        <a:graphic>
          <a:graphicData uri="http://schemas.openxmlformats.org/drawingml/2006/table">
            <a:tbl>
              <a:tblPr firstRow="1" bandRow="1">
                <a:tableStyleId>{5940675A-B579-460E-94D1-54222C63F5DA}</a:tableStyleId>
              </a:tblPr>
              <a:tblGrid>
                <a:gridCol w="576580">
                  <a:extLst>
                    <a:ext uri="{9D8B030D-6E8A-4147-A177-3AD203B41FA5}">
                      <a16:colId xmlns:a16="http://schemas.microsoft.com/office/drawing/2014/main" val="3956893760"/>
                    </a:ext>
                  </a:extLst>
                </a:gridCol>
                <a:gridCol w="1828800">
                  <a:extLst>
                    <a:ext uri="{9D8B030D-6E8A-4147-A177-3AD203B41FA5}">
                      <a16:colId xmlns:a16="http://schemas.microsoft.com/office/drawing/2014/main" val="758461890"/>
                    </a:ext>
                  </a:extLst>
                </a:gridCol>
                <a:gridCol w="1295400">
                  <a:extLst>
                    <a:ext uri="{9D8B030D-6E8A-4147-A177-3AD203B41FA5}">
                      <a16:colId xmlns:a16="http://schemas.microsoft.com/office/drawing/2014/main" val="3300612942"/>
                    </a:ext>
                  </a:extLst>
                </a:gridCol>
                <a:gridCol w="685800">
                  <a:extLst>
                    <a:ext uri="{9D8B030D-6E8A-4147-A177-3AD203B41FA5}">
                      <a16:colId xmlns:a16="http://schemas.microsoft.com/office/drawing/2014/main" val="3985340357"/>
                    </a:ext>
                  </a:extLst>
                </a:gridCol>
                <a:gridCol w="1219200">
                  <a:extLst>
                    <a:ext uri="{9D8B030D-6E8A-4147-A177-3AD203B41FA5}">
                      <a16:colId xmlns:a16="http://schemas.microsoft.com/office/drawing/2014/main" val="1304080152"/>
                    </a:ext>
                  </a:extLst>
                </a:gridCol>
                <a:gridCol w="2209800">
                  <a:extLst>
                    <a:ext uri="{9D8B030D-6E8A-4147-A177-3AD203B41FA5}">
                      <a16:colId xmlns:a16="http://schemas.microsoft.com/office/drawing/2014/main" val="2396071512"/>
                    </a:ext>
                  </a:extLst>
                </a:gridCol>
                <a:gridCol w="1703706">
                  <a:extLst>
                    <a:ext uri="{9D8B030D-6E8A-4147-A177-3AD203B41FA5}">
                      <a16:colId xmlns:a16="http://schemas.microsoft.com/office/drawing/2014/main" val="2480978975"/>
                    </a:ext>
                  </a:extLst>
                </a:gridCol>
              </a:tblGrid>
              <a:tr h="712534">
                <a:tc>
                  <a:txBody>
                    <a:bodyPr/>
                    <a:lstStyle/>
                    <a:p>
                      <a:r>
                        <a:rPr lang="en-US" b="1" dirty="0">
                          <a:latin typeface="Times New Roman" panose="02020603050405020304" pitchFamily="18" charset="0"/>
                          <a:cs typeface="Times New Roman" panose="02020603050405020304" pitchFamily="18" charset="0"/>
                        </a:rPr>
                        <a:t>Sr.</a:t>
                      </a:r>
                    </a:p>
                    <a:p>
                      <a:r>
                        <a:rPr lang="en-US" b="1" dirty="0">
                          <a:latin typeface="Times New Roman" panose="02020603050405020304" pitchFamily="18" charset="0"/>
                          <a:cs typeface="Times New Roman" panose="02020603050405020304" pitchFamily="18" charset="0"/>
                        </a:rPr>
                        <a:t>No.</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Title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Author(s)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Year</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Outcomes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5497083"/>
                  </a:ext>
                </a:extLst>
              </a:tr>
              <a:tr h="2215880">
                <a:tc>
                  <a:txBody>
                    <a:bodyPr/>
                    <a:lstStyle/>
                    <a:p>
                      <a:r>
                        <a:rPr lang="en-US" dirty="0"/>
                        <a:t>1.</a:t>
                      </a:r>
                      <a:endParaRPr lang="en-IN" dirty="0"/>
                    </a:p>
                  </a:txBody>
                  <a:tcPr/>
                </a:tc>
                <a:tc>
                  <a:txBody>
                    <a:bodyPr/>
                    <a:lstStyle/>
                    <a:p>
                      <a:r>
                        <a:rPr lang="en-US" dirty="0">
                          <a:latin typeface="Times New Roman" panose="02020603050405020304" pitchFamily="18" charset="0"/>
                          <a:cs typeface="Times New Roman" panose="02020603050405020304" pitchFamily="18" charset="0"/>
                        </a:rPr>
                        <a:t>News Classification Using Machine Learning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err="1">
                          <a:latin typeface="Times New Roman" panose="02020603050405020304" pitchFamily="18" charset="0"/>
                          <a:cs typeface="Times New Roman" panose="02020603050405020304" pitchFamily="18" charset="0"/>
                        </a:rPr>
                        <a:t>Kowsari</a:t>
                      </a:r>
                      <a:r>
                        <a:rPr lang="en-IN" dirty="0">
                          <a:latin typeface="Times New Roman" panose="02020603050405020304" pitchFamily="18" charset="0"/>
                          <a:cs typeface="Times New Roman" panose="02020603050405020304" pitchFamily="18" charset="0"/>
                        </a:rPr>
                        <a:t>, Jafari </a:t>
                      </a:r>
                      <a:r>
                        <a:rPr lang="en-IN" dirty="0" err="1">
                          <a:latin typeface="Times New Roman" panose="02020603050405020304" pitchFamily="18" charset="0"/>
                          <a:cs typeface="Times New Roman" panose="02020603050405020304" pitchFamily="18" charset="0"/>
                        </a:rPr>
                        <a:t>Meimandi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Heidarysafa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2019</a:t>
                      </a:r>
                      <a:endParaRPr lang="en-IN" dirty="0"/>
                    </a:p>
                  </a:txBody>
                  <a:tcPr/>
                </a:tc>
                <a:tc>
                  <a:txBody>
                    <a:bodyPr/>
                    <a:lstStyle/>
                    <a:p>
                      <a:pPr>
                        <a:buNone/>
                      </a:pPr>
                      <a:r>
                        <a:rPr lang="en-US" dirty="0">
                          <a:latin typeface="Times New Roman" panose="02020603050405020304" pitchFamily="18" charset="0"/>
                          <a:cs typeface="Times New Roman" panose="02020603050405020304" pitchFamily="18" charset="0"/>
                        </a:rPr>
                        <a:t>Automated classifications of news articles into predefined categories</a:t>
                      </a:r>
                      <a:r>
                        <a:rPr lang="en-US" dirty="0"/>
                        <a:t>.</a:t>
                      </a:r>
                      <a:endParaRPr lang="en-IN" dirty="0"/>
                    </a:p>
                  </a:txBody>
                  <a:tcPr anchor="ctr"/>
                </a:tc>
                <a:tc>
                  <a:txBody>
                    <a:bodyPr/>
                    <a:lstStyle/>
                    <a:p>
                      <a:pPr>
                        <a:lnSpc>
                          <a:spcPct val="115000"/>
                        </a:lnSpc>
                        <a:spcAft>
                          <a:spcPts val="10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Used machine learning algorithms like Naive Bayes and SVM for text classification of news articles.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r>
                        <a:rPr lang="en-US" sz="1800" dirty="0">
                          <a:latin typeface="Times New Roman" panose="02020603050405020304" pitchFamily="18" charset="0"/>
                          <a:cs typeface="Times New Roman" panose="02020603050405020304" pitchFamily="18" charset="0"/>
                        </a:rPr>
                        <a:t>The study showed that machine learning models can accurately classify news content with high efficiency.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09103231"/>
                  </a:ext>
                </a:extLst>
              </a:tr>
              <a:tr h="2481786">
                <a:tc>
                  <a:txBody>
                    <a:bodyPr/>
                    <a:lstStyle/>
                    <a:p>
                      <a:r>
                        <a:rPr lang="en-US" dirty="0"/>
                        <a:t>2.</a:t>
                      </a:r>
                      <a:endParaRPr lang="en-IN" dirty="0"/>
                    </a:p>
                  </a:txBody>
                  <a:tcPr/>
                </a:tc>
                <a:tc>
                  <a:txBody>
                    <a:bodyPr/>
                    <a:lstStyle/>
                    <a:p>
                      <a:r>
                        <a:rPr lang="en-IN" dirty="0"/>
                        <a:t>Text Classification Algorithms: </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Aggarwal &amp; Zhai</a:t>
                      </a:r>
                    </a:p>
                  </a:txBody>
                  <a:tcPr/>
                </a:tc>
                <a:tc>
                  <a:txBody>
                    <a:bodyPr/>
                    <a:lstStyle/>
                    <a:p>
                      <a:r>
                        <a:rPr lang="en-US" dirty="0"/>
                        <a:t>2025</a:t>
                      </a:r>
                      <a:endParaRPr lang="en-IN" dirty="0"/>
                    </a:p>
                  </a:txBody>
                  <a:tcPr/>
                </a:tc>
                <a:tc>
                  <a:txBody>
                    <a:bodyPr/>
                    <a:lstStyle/>
                    <a:p>
                      <a:pPr algn="just"/>
                      <a:r>
                        <a:rPr lang="en-US" dirty="0">
                          <a:latin typeface="Times New Roman" panose="02020603050405020304" pitchFamily="18" charset="0"/>
                          <a:cs typeface="Times New Roman" panose="02020603050405020304" pitchFamily="18" charset="0"/>
                        </a:rPr>
                        <a:t>Provided a comprehensive overview of text classification techniques.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Surveyed different machine learning methods such as decision trees, SVM, and neural networks for text classification.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Concluded that machine learning methods significantly improve text classification accuracy.</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0304380"/>
                  </a:ext>
                </a:extLst>
              </a:tr>
            </a:tbl>
          </a:graphicData>
        </a:graphic>
      </p:graphicFrame>
    </p:spTree>
    <p:extLst>
      <p:ext uri="{BB962C8B-B14F-4D97-AF65-F5344CB8AC3E}">
        <p14:creationId xmlns:p14="http://schemas.microsoft.com/office/powerpoint/2010/main" val="3425307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79D3-C045-9ADD-2E83-E20E71CB904F}"/>
              </a:ext>
            </a:extLst>
          </p:cNvPr>
          <p:cNvSpPr>
            <a:spLocks noGrp="1"/>
          </p:cNvSpPr>
          <p:nvPr>
            <p:ph type="ctrTitle"/>
          </p:nvPr>
        </p:nvSpPr>
        <p:spPr>
          <a:xfrm>
            <a:off x="609600" y="381000"/>
            <a:ext cx="8290560" cy="530915"/>
          </a:xfrm>
        </p:spPr>
        <p:txBody>
          <a:bodyPr/>
          <a:lstStyle/>
          <a:p>
            <a:r>
              <a:rPr lang="en-US" spc="-45" dirty="0"/>
              <a:t>Literature</a:t>
            </a:r>
            <a:r>
              <a:rPr lang="en-US" spc="-100" dirty="0"/>
              <a:t> </a:t>
            </a:r>
            <a:r>
              <a:rPr lang="en-US" spc="-35" dirty="0"/>
              <a:t>Survey</a:t>
            </a:r>
            <a:r>
              <a:rPr lang="en-US" spc="-100" dirty="0"/>
              <a:t> </a:t>
            </a:r>
            <a:r>
              <a:rPr lang="en-US" dirty="0"/>
              <a:t>of</a:t>
            </a:r>
            <a:r>
              <a:rPr lang="en-US" spc="-100" dirty="0"/>
              <a:t> </a:t>
            </a:r>
            <a:r>
              <a:rPr lang="en-US" dirty="0"/>
              <a:t>the</a:t>
            </a:r>
            <a:r>
              <a:rPr lang="en-US" spc="-100" dirty="0"/>
              <a:t> </a:t>
            </a:r>
            <a:r>
              <a:rPr lang="en-US" dirty="0"/>
              <a:t>existing</a:t>
            </a:r>
            <a:r>
              <a:rPr lang="en-US" spc="-100" dirty="0"/>
              <a:t> </a:t>
            </a:r>
            <a:r>
              <a:rPr lang="en-US" spc="-10" dirty="0"/>
              <a:t>system</a:t>
            </a:r>
            <a:endParaRPr lang="en-IN" dirty="0"/>
          </a:p>
        </p:txBody>
      </p:sp>
      <p:graphicFrame>
        <p:nvGraphicFramePr>
          <p:cNvPr id="4" name="Table 3">
            <a:extLst>
              <a:ext uri="{FF2B5EF4-FFF2-40B4-BE49-F238E27FC236}">
                <a16:creationId xmlns:a16="http://schemas.microsoft.com/office/drawing/2014/main" id="{8116EA57-2A81-355B-492D-2B546F21F028}"/>
              </a:ext>
            </a:extLst>
          </p:cNvPr>
          <p:cNvGraphicFramePr>
            <a:graphicFrameLocks noGrp="1"/>
          </p:cNvGraphicFramePr>
          <p:nvPr>
            <p:extLst>
              <p:ext uri="{D42A27DB-BD31-4B8C-83A1-F6EECF244321}">
                <p14:modId xmlns:p14="http://schemas.microsoft.com/office/powerpoint/2010/main" val="1006692668"/>
              </p:ext>
            </p:extLst>
          </p:nvPr>
        </p:nvGraphicFramePr>
        <p:xfrm>
          <a:off x="228600" y="1295400"/>
          <a:ext cx="9296399" cy="44958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3956893760"/>
                    </a:ext>
                  </a:extLst>
                </a:gridCol>
                <a:gridCol w="1447800">
                  <a:extLst>
                    <a:ext uri="{9D8B030D-6E8A-4147-A177-3AD203B41FA5}">
                      <a16:colId xmlns:a16="http://schemas.microsoft.com/office/drawing/2014/main" val="758461890"/>
                    </a:ext>
                  </a:extLst>
                </a:gridCol>
                <a:gridCol w="1143000">
                  <a:extLst>
                    <a:ext uri="{9D8B030D-6E8A-4147-A177-3AD203B41FA5}">
                      <a16:colId xmlns:a16="http://schemas.microsoft.com/office/drawing/2014/main" val="3300612942"/>
                    </a:ext>
                  </a:extLst>
                </a:gridCol>
                <a:gridCol w="685800">
                  <a:extLst>
                    <a:ext uri="{9D8B030D-6E8A-4147-A177-3AD203B41FA5}">
                      <a16:colId xmlns:a16="http://schemas.microsoft.com/office/drawing/2014/main" val="3985340357"/>
                    </a:ext>
                  </a:extLst>
                </a:gridCol>
                <a:gridCol w="1905000">
                  <a:extLst>
                    <a:ext uri="{9D8B030D-6E8A-4147-A177-3AD203B41FA5}">
                      <a16:colId xmlns:a16="http://schemas.microsoft.com/office/drawing/2014/main" val="1304080152"/>
                    </a:ext>
                  </a:extLst>
                </a:gridCol>
                <a:gridCol w="1600200">
                  <a:extLst>
                    <a:ext uri="{9D8B030D-6E8A-4147-A177-3AD203B41FA5}">
                      <a16:colId xmlns:a16="http://schemas.microsoft.com/office/drawing/2014/main" val="2396071512"/>
                    </a:ext>
                  </a:extLst>
                </a:gridCol>
                <a:gridCol w="1904999">
                  <a:extLst>
                    <a:ext uri="{9D8B030D-6E8A-4147-A177-3AD203B41FA5}">
                      <a16:colId xmlns:a16="http://schemas.microsoft.com/office/drawing/2014/main" val="2480978975"/>
                    </a:ext>
                  </a:extLst>
                </a:gridCol>
              </a:tblGrid>
              <a:tr h="678170">
                <a:tc>
                  <a:txBody>
                    <a:bodyPr/>
                    <a:lstStyle/>
                    <a:p>
                      <a:r>
                        <a:rPr lang="en-US" b="1" dirty="0">
                          <a:latin typeface="Times New Roman" panose="02020603050405020304" pitchFamily="18" charset="0"/>
                          <a:cs typeface="Times New Roman" panose="02020603050405020304" pitchFamily="18" charset="0"/>
                        </a:rPr>
                        <a:t>Sr.</a:t>
                      </a:r>
                    </a:p>
                    <a:p>
                      <a:r>
                        <a:rPr lang="en-US" b="1" dirty="0">
                          <a:latin typeface="Times New Roman" panose="02020603050405020304" pitchFamily="18" charset="0"/>
                          <a:cs typeface="Times New Roman" panose="02020603050405020304" pitchFamily="18" charset="0"/>
                        </a:rPr>
                        <a:t>No.</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Title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Author(s)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Year</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Outcomes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Result</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5497083"/>
                  </a:ext>
                </a:extLst>
              </a:tr>
              <a:tr h="3817630">
                <a:tc>
                  <a:txBody>
                    <a:bodyPr/>
                    <a:lstStyle/>
                    <a:p>
                      <a:r>
                        <a:rPr lang="en-US" dirty="0"/>
                        <a:t>3</a:t>
                      </a:r>
                      <a:r>
                        <a:rPr lang="en-US"/>
                        <a:t>.</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News Article Classification Using Natural Language Processing.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Zhang, Zhao &amp; LeCun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dirty="0"/>
                        <a:t>2024</a:t>
                      </a:r>
                      <a:endParaRPr lang="en-IN" dirty="0"/>
                    </a:p>
                  </a:txBody>
                  <a:tcPr/>
                </a:tc>
                <a:tc>
                  <a:txBody>
                    <a:bodyPr/>
                    <a:lstStyle/>
                    <a:p>
                      <a:r>
                        <a:rPr lang="en-US" dirty="0">
                          <a:latin typeface="Times New Roman" panose="02020603050405020304" pitchFamily="18" charset="0"/>
                          <a:cs typeface="Times New Roman" panose="02020603050405020304" pitchFamily="18" charset="0"/>
                        </a:rPr>
                        <a:t>Improved accuracy in categorizing news articles automatically.</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Used deep learning and NLP techniques for text classification of news datasets.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Deep learning models achieved better performance compared to traditional methods.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09103231"/>
                  </a:ext>
                </a:extLst>
              </a:tr>
            </a:tbl>
          </a:graphicData>
        </a:graphic>
      </p:graphicFrame>
    </p:spTree>
    <p:extLst>
      <p:ext uri="{BB962C8B-B14F-4D97-AF65-F5344CB8AC3E}">
        <p14:creationId xmlns:p14="http://schemas.microsoft.com/office/powerpoint/2010/main" val="4097093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3189">
              <a:lnSpc>
                <a:spcPct val="100000"/>
              </a:lnSpc>
              <a:spcBef>
                <a:spcPts val="135"/>
              </a:spcBef>
            </a:pPr>
            <a:r>
              <a:rPr spc="-20" dirty="0"/>
              <a:t>Limitations</a:t>
            </a:r>
            <a:r>
              <a:rPr spc="-45" dirty="0"/>
              <a:t> </a:t>
            </a:r>
            <a:r>
              <a:rPr dirty="0"/>
              <a:t>of</a:t>
            </a:r>
            <a:r>
              <a:rPr spc="-45" dirty="0"/>
              <a:t> </a:t>
            </a:r>
            <a:r>
              <a:rPr dirty="0"/>
              <a:t>existing</a:t>
            </a:r>
            <a:r>
              <a:rPr spc="-40" dirty="0"/>
              <a:t> </a:t>
            </a:r>
            <a:r>
              <a:rPr spc="-10" dirty="0"/>
              <a:t>systems</a:t>
            </a:r>
          </a:p>
        </p:txBody>
      </p:sp>
      <p:sp>
        <p:nvSpPr>
          <p:cNvPr id="4" name="Rectangle 2">
            <a:extLst>
              <a:ext uri="{FF2B5EF4-FFF2-40B4-BE49-F238E27FC236}">
                <a16:creationId xmlns:a16="http://schemas.microsoft.com/office/drawing/2014/main" id="{297EF5F2-CAD1-064C-A23D-DEE511EA6B3F}"/>
              </a:ext>
            </a:extLst>
          </p:cNvPr>
          <p:cNvSpPr>
            <a:spLocks noChangeArrowheads="1"/>
          </p:cNvSpPr>
          <p:nvPr/>
        </p:nvSpPr>
        <p:spPr bwMode="auto">
          <a:xfrm>
            <a:off x="474866" y="-215996"/>
            <a:ext cx="8335759"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the literature review of existing systems, we </a:t>
            </a:r>
            <a:r>
              <a:rPr lang="en-US" altLang="en-US" sz="2000" dirty="0">
                <a:solidFill>
                  <a:schemeClr val="tx1"/>
                </a:solidFill>
                <a:latin typeface="Times New Roman" panose="02020603050405020304" pitchFamily="18" charset="0"/>
                <a:cs typeface="Times New Roman" panose="02020603050405020304" pitchFamily="18" charset="0"/>
              </a:rPr>
              <a:t>find that: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Times New Roman" panose="02020603050405020304" pitchFamily="18" charset="0"/>
                <a:cs typeface="Times New Roman" panose="02020603050405020304" pitchFamily="18" charset="0"/>
              </a:rPr>
              <a:t>Traditional models require large labeled datasets which are difficult to collect.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Times New Roman" panose="02020603050405020304" pitchFamily="18" charset="0"/>
                <a:cs typeface="Times New Roman" panose="02020603050405020304" pitchFamily="18" charset="0"/>
              </a:rPr>
              <a:t>Some methods show lower accuracy when classifying short or unclear news headlines.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Times New Roman" panose="02020603050405020304" pitchFamily="18" charset="0"/>
                <a:cs typeface="Times New Roman" panose="02020603050405020304" pitchFamily="18" charset="0"/>
              </a:rPr>
              <a:t>Many systems cannot fully understand the context or meaning of complex text.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000" dirty="0">
                <a:latin typeface="Times New Roman" panose="02020603050405020304" pitchFamily="18" charset="0"/>
                <a:cs typeface="Times New Roman" panose="02020603050405020304" pitchFamily="18" charset="0"/>
              </a:rPr>
              <a:t>Deep learning based systems may require high computational power and longer training time.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sz="2000" dirty="0"/>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GB" alt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8617" rIns="0" bIns="0" rtlCol="0">
            <a:spAutoFit/>
          </a:bodyPr>
          <a:lstStyle/>
          <a:p>
            <a:pPr marL="377190">
              <a:lnSpc>
                <a:spcPct val="100000"/>
              </a:lnSpc>
              <a:spcBef>
                <a:spcPts val="135"/>
              </a:spcBef>
            </a:pPr>
            <a:r>
              <a:rPr spc="-30" dirty="0"/>
              <a:t>Problem</a:t>
            </a:r>
            <a:r>
              <a:rPr spc="-165" dirty="0"/>
              <a:t> </a:t>
            </a:r>
            <a:r>
              <a:rPr spc="-35" dirty="0"/>
              <a:t>statement</a:t>
            </a:r>
          </a:p>
        </p:txBody>
      </p:sp>
      <p:sp>
        <p:nvSpPr>
          <p:cNvPr id="17" name="TextBox 16">
            <a:extLst>
              <a:ext uri="{FF2B5EF4-FFF2-40B4-BE49-F238E27FC236}">
                <a16:creationId xmlns:a16="http://schemas.microsoft.com/office/drawing/2014/main" id="{E495E983-E921-7D63-918D-54B789588DB1}"/>
              </a:ext>
            </a:extLst>
          </p:cNvPr>
          <p:cNvSpPr txBox="1"/>
          <p:nvPr/>
        </p:nvSpPr>
        <p:spPr>
          <a:xfrm>
            <a:off x="609600" y="1366154"/>
            <a:ext cx="8579372" cy="18836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systems often struggle to accurately classify news headlines because of limited understanding of context and variations in text.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system that can automatically and efficiently categorize news into appropriate topics to manage large amounts of news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343375"/>
            <a:ext cx="476884" cy="2972435"/>
          </a:xfrm>
          <a:custGeom>
            <a:avLst/>
            <a:gdLst/>
            <a:ahLst/>
            <a:cxnLst/>
            <a:rect l="l" t="t" r="r" b="b"/>
            <a:pathLst>
              <a:path w="476884" h="2972434">
                <a:moveTo>
                  <a:pt x="476609" y="2971823"/>
                </a:moveTo>
                <a:lnTo>
                  <a:pt x="0" y="2971823"/>
                </a:lnTo>
                <a:lnTo>
                  <a:pt x="0" y="0"/>
                </a:lnTo>
                <a:lnTo>
                  <a:pt x="476609" y="2971823"/>
                </a:lnTo>
                <a:close/>
              </a:path>
            </a:pathLst>
          </a:custGeom>
          <a:solidFill>
            <a:srgbClr val="5ECBEF">
              <a:alpha val="69999"/>
            </a:srgbClr>
          </a:solidFill>
        </p:spPr>
        <p:txBody>
          <a:bodyPr wrap="square" lIns="0" tIns="0" rIns="0" bIns="0" rtlCol="0"/>
          <a:lstStyle/>
          <a:p>
            <a:endParaRPr/>
          </a:p>
        </p:txBody>
      </p:sp>
      <p:grpSp>
        <p:nvGrpSpPr>
          <p:cNvPr id="5" name="object 5"/>
          <p:cNvGrpSpPr/>
          <p:nvPr/>
        </p:nvGrpSpPr>
        <p:grpSpPr>
          <a:xfrm>
            <a:off x="5485036" y="-4761"/>
            <a:ext cx="4273550" cy="7324725"/>
            <a:chOff x="5485036" y="-4761"/>
            <a:chExt cx="4273550" cy="7324725"/>
          </a:xfrm>
        </p:grpSpPr>
        <p:sp>
          <p:nvSpPr>
            <p:cNvPr id="6" name="object 6"/>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System</a:t>
            </a:r>
            <a:r>
              <a:rPr spc="-5" dirty="0"/>
              <a:t> </a:t>
            </a:r>
            <a:r>
              <a:rPr spc="-10" dirty="0"/>
              <a:t>Design</a:t>
            </a:r>
          </a:p>
        </p:txBody>
      </p:sp>
      <p:pic>
        <p:nvPicPr>
          <p:cNvPr id="4" name="Picture 3">
            <a:extLst>
              <a:ext uri="{FF2B5EF4-FFF2-40B4-BE49-F238E27FC236}">
                <a16:creationId xmlns:a16="http://schemas.microsoft.com/office/drawing/2014/main" id="{391FBD0A-BC92-9458-D8D5-E7D9A4BCC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899" y="1558204"/>
            <a:ext cx="6891717" cy="473458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485036" y="-4761"/>
            <a:ext cx="4273550" cy="7324725"/>
            <a:chOff x="5485036" y="-4761"/>
            <a:chExt cx="4273550" cy="7324725"/>
          </a:xfrm>
        </p:grpSpPr>
        <p:sp>
          <p:nvSpPr>
            <p:cNvPr id="6" name="object 6"/>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0" dirty="0"/>
              <a:t>Technologies</a:t>
            </a:r>
            <a:r>
              <a:rPr spc="-120" dirty="0"/>
              <a:t> </a:t>
            </a:r>
            <a:r>
              <a:rPr spc="-75" dirty="0"/>
              <a:t>and</a:t>
            </a:r>
            <a:r>
              <a:rPr spc="-114" dirty="0"/>
              <a:t> </a:t>
            </a:r>
            <a:r>
              <a:rPr spc="-35" dirty="0"/>
              <a:t>methodologies</a:t>
            </a:r>
          </a:p>
        </p:txBody>
      </p:sp>
      <p:sp>
        <p:nvSpPr>
          <p:cNvPr id="22" name="TextBox 21">
            <a:extLst>
              <a:ext uri="{FF2B5EF4-FFF2-40B4-BE49-F238E27FC236}">
                <a16:creationId xmlns:a16="http://schemas.microsoft.com/office/drawing/2014/main" id="{258CE7D9-2ADB-5EEF-C7FB-4365BC878F03}"/>
              </a:ext>
            </a:extLst>
          </p:cNvPr>
          <p:cNvSpPr txBox="1"/>
          <p:nvPr/>
        </p:nvSpPr>
        <p:spPr>
          <a:xfrm>
            <a:off x="531483" y="1182642"/>
            <a:ext cx="8655572" cy="4745979"/>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Technologies:</a:t>
            </a:r>
          </a:p>
          <a:p>
            <a:pPr algn="just">
              <a:lnSpc>
                <a:spcPct val="150000"/>
              </a:lnSpc>
            </a:pPr>
            <a:r>
              <a:rPr lang="en-IN" sz="2000" b="1" dirty="0">
                <a:latin typeface="Times New Roman" panose="02020603050405020304" pitchFamily="18" charset="0"/>
                <a:cs typeface="Times New Roman" panose="02020603050405020304" pitchFamily="18" charset="0"/>
              </a:rPr>
              <a:t>1. Frontend (User Interface)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HTML and CSS are used to design the user interface of the web application.</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JavaScript is used to make the pages interactive and dynamic.</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Chart.js is used to display charts and analytics on the dashboard.</a:t>
            </a:r>
          </a:p>
          <a:p>
            <a:pPr algn="just">
              <a:lnSpc>
                <a:spcPct val="150000"/>
              </a:lnSpc>
            </a:pPr>
            <a:r>
              <a:rPr lang="en-GB" sz="2000" b="1" dirty="0">
                <a:latin typeface="Times New Roman" panose="02020603050405020304" pitchFamily="18" charset="0"/>
                <a:cs typeface="Times New Roman" panose="02020603050405020304" pitchFamily="18" charset="0"/>
              </a:rPr>
              <a:t>2. Backend (Logic &amp; Processing)</a:t>
            </a:r>
          </a:p>
          <a:p>
            <a:pPr marL="342900" indent="-342900" algn="just">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P</a:t>
            </a:r>
            <a:r>
              <a:rPr lang="en-US" sz="2000" dirty="0" err="1">
                <a:latin typeface="Times New Roman" panose="02020603050405020304" pitchFamily="18" charset="0"/>
                <a:cs typeface="Times New Roman" panose="02020603050405020304" pitchFamily="18" charset="0"/>
              </a:rPr>
              <a:t>ython</a:t>
            </a:r>
            <a:r>
              <a:rPr lang="en-US" sz="2000" dirty="0">
                <a:latin typeface="Times New Roman" panose="02020603050405020304" pitchFamily="18" charset="0"/>
                <a:cs typeface="Times New Roman" panose="02020603050405020304" pitchFamily="18" charset="0"/>
              </a:rPr>
              <a:t> is used for building the backend logic of the application.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Flask framework is used to handle requests and connect the frontend with the machine learning model.</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database is used to store prediction history and user data.</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485036" y="-4761"/>
            <a:ext cx="4273550" cy="7324725"/>
            <a:chOff x="5485036" y="-4761"/>
            <a:chExt cx="4273550" cy="7324725"/>
          </a:xfrm>
        </p:grpSpPr>
        <p:sp>
          <p:nvSpPr>
            <p:cNvPr id="6" name="object 6"/>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0" dirty="0"/>
              <a:t>Technologies</a:t>
            </a:r>
            <a:r>
              <a:rPr spc="-120" dirty="0"/>
              <a:t> </a:t>
            </a:r>
            <a:r>
              <a:rPr spc="-75" dirty="0"/>
              <a:t>and</a:t>
            </a:r>
            <a:r>
              <a:rPr spc="-114" dirty="0"/>
              <a:t> </a:t>
            </a:r>
            <a:r>
              <a:rPr spc="-35" dirty="0"/>
              <a:t>methodologies</a:t>
            </a:r>
          </a:p>
        </p:txBody>
      </p:sp>
      <p:sp>
        <p:nvSpPr>
          <p:cNvPr id="22" name="TextBox 21">
            <a:extLst>
              <a:ext uri="{FF2B5EF4-FFF2-40B4-BE49-F238E27FC236}">
                <a16:creationId xmlns:a16="http://schemas.microsoft.com/office/drawing/2014/main" id="{258CE7D9-2ADB-5EEF-C7FB-4365BC878F03}"/>
              </a:ext>
            </a:extLst>
          </p:cNvPr>
          <p:cNvSpPr txBox="1"/>
          <p:nvPr/>
        </p:nvSpPr>
        <p:spPr>
          <a:xfrm>
            <a:off x="509712" y="1219200"/>
            <a:ext cx="8655572" cy="4283993"/>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Technologies:</a:t>
            </a:r>
          </a:p>
          <a:p>
            <a:pPr algn="just">
              <a:lnSpc>
                <a:spcPct val="150000"/>
              </a:lnSpc>
            </a:pPr>
            <a:r>
              <a:rPr lang="en-IN" sz="2000" b="1" dirty="0">
                <a:latin typeface="Times New Roman" panose="02020603050405020304" pitchFamily="18" charset="0"/>
                <a:cs typeface="Times New Roman" panose="02020603050405020304" pitchFamily="18" charset="0"/>
              </a:rPr>
              <a:t>3.AI &amp; ML Models (The Core)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Natural Language Processing (NLP) techniques are used to preprocess and analyze the news text, such as tokenization, stop-word removal, and text cleaning.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processed text is converted into numerical form using methods like TF-IDF so that machine learning models can understand the data.</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Logistic Regression is then used as the classification model to predict the news category with good accuracy and precision.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64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9B7F8E0-6203-431E-9035-0ED524C71289}"/>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CCB93EFB-4480-AEEE-63CC-C0C92A1255A9}"/>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DB541429-1576-F150-72A6-15A05DF6B1D7}"/>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D493672A-78F8-2068-2F94-821B8AE1DE79}"/>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FE0553B3-96B7-DC6C-21E5-74241E328DA2}"/>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25AFC4A-7A7B-8362-586E-ECF2FE2FBB0A}"/>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087AB462-5CB2-0D6B-23E2-2186BFCC077D}"/>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33249284-FB15-4E0D-2A58-9142CE9067F1}"/>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BB7FC23D-5995-5072-A3D1-331C21B7C123}"/>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A17F0C57-2D36-3339-ABC8-AD0C6B3A4C0F}"/>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0B97EA92-A618-03D2-C84D-590CEEC4B373}"/>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0" dirty="0"/>
              <a:t>Technologies</a:t>
            </a:r>
            <a:r>
              <a:rPr spc="-120" dirty="0"/>
              <a:t> </a:t>
            </a:r>
            <a:r>
              <a:rPr spc="-75" dirty="0"/>
              <a:t>and</a:t>
            </a:r>
            <a:r>
              <a:rPr spc="-114" dirty="0"/>
              <a:t> </a:t>
            </a:r>
            <a:r>
              <a:rPr spc="-35" dirty="0"/>
              <a:t>methodologies</a:t>
            </a:r>
          </a:p>
        </p:txBody>
      </p:sp>
      <p:sp>
        <p:nvSpPr>
          <p:cNvPr id="22" name="TextBox 21">
            <a:extLst>
              <a:ext uri="{FF2B5EF4-FFF2-40B4-BE49-F238E27FC236}">
                <a16:creationId xmlns:a16="http://schemas.microsoft.com/office/drawing/2014/main" id="{5F03620B-8454-B7B0-F339-89D705AE0AC7}"/>
              </a:ext>
            </a:extLst>
          </p:cNvPr>
          <p:cNvSpPr txBox="1"/>
          <p:nvPr/>
        </p:nvSpPr>
        <p:spPr>
          <a:xfrm>
            <a:off x="531483" y="1219200"/>
            <a:ext cx="8655572" cy="6167329"/>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Methodologies:</a:t>
            </a:r>
          </a:p>
          <a:p>
            <a:pPr algn="just"/>
            <a:endParaRPr lang="en-GB"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and preprocess the news dataset using NLP techniques such as text cleaning, tokenization, and removal of stop words.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 the processed text into numerical features using techniques like TF-IDF for machine learning processing.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 a machine learning model such as Logistic Regression to classify news headlines into different categories.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 the model and use it in the web application to predict the category of new news headlines.</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algn="just">
              <a:lnSpc>
                <a:spcPct val="150000"/>
              </a:lnSpc>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769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E3393-6F58-9591-C620-4A44C873FBDD}"/>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94C7F960-21C6-DB63-E686-5A3C0C253688}"/>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89B22D87-3ABE-0F4C-2156-2F5973055B33}"/>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8C36290F-2C32-818F-3984-015F58F5CF97}"/>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94ABFF7B-5D20-0E98-A690-BF3BDE0D4A82}"/>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70F10230-12B5-A16A-51E7-88DF96D1E8F7}"/>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D86F2A23-1507-B973-D6CA-60F73C42708D}"/>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8BEA7929-DD34-E476-0231-B908ABE940DE}"/>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79F1638-6ADB-1637-FB94-6A492D211855}"/>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3E2594A9-C715-7BD6-A920-912276BD7EA6}"/>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51A06FE5-0DAD-FB86-A696-A71B0B40955E}"/>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Implementation</a:t>
            </a:r>
          </a:p>
        </p:txBody>
      </p:sp>
      <p:pic>
        <p:nvPicPr>
          <p:cNvPr id="16" name="Picture 15">
            <a:extLst>
              <a:ext uri="{FF2B5EF4-FFF2-40B4-BE49-F238E27FC236}">
                <a16:creationId xmlns:a16="http://schemas.microsoft.com/office/drawing/2014/main" id="{6D9FD816-4169-83A0-2B24-BE33C780C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424" y="1799449"/>
            <a:ext cx="6629400" cy="3677245"/>
          </a:xfrm>
          <a:prstGeom prst="rect">
            <a:avLst/>
          </a:prstGeom>
        </p:spPr>
      </p:pic>
    </p:spTree>
    <p:extLst>
      <p:ext uri="{BB962C8B-B14F-4D97-AF65-F5344CB8AC3E}">
        <p14:creationId xmlns:p14="http://schemas.microsoft.com/office/powerpoint/2010/main" val="4214330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E3393-6F58-9591-C620-4A44C873FBDD}"/>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94C7F960-21C6-DB63-E686-5A3C0C253688}"/>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89B22D87-3ABE-0F4C-2156-2F5973055B33}"/>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8C36290F-2C32-818F-3984-015F58F5CF97}"/>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94ABFF7B-5D20-0E98-A690-BF3BDE0D4A82}"/>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70F10230-12B5-A16A-51E7-88DF96D1E8F7}"/>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D86F2A23-1507-B973-D6CA-60F73C42708D}"/>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8BEA7929-DD34-E476-0231-B908ABE940DE}"/>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79F1638-6ADB-1637-FB94-6A492D211855}"/>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3E2594A9-C715-7BD6-A920-912276BD7EA6}"/>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51A06FE5-0DAD-FB86-A696-A71B0B40955E}"/>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Implementation</a:t>
            </a:r>
          </a:p>
        </p:txBody>
      </p:sp>
      <p:pic>
        <p:nvPicPr>
          <p:cNvPr id="3" name="Picture 2">
            <a:extLst>
              <a:ext uri="{FF2B5EF4-FFF2-40B4-BE49-F238E27FC236}">
                <a16:creationId xmlns:a16="http://schemas.microsoft.com/office/drawing/2014/main" id="{985ED6EE-3146-6585-4EF0-12F126201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324" y="1675626"/>
            <a:ext cx="7032292" cy="3977640"/>
          </a:xfrm>
          <a:prstGeom prst="rect">
            <a:avLst/>
          </a:prstGeom>
        </p:spPr>
      </p:pic>
    </p:spTree>
    <p:extLst>
      <p:ext uri="{BB962C8B-B14F-4D97-AF65-F5344CB8AC3E}">
        <p14:creationId xmlns:p14="http://schemas.microsoft.com/office/powerpoint/2010/main" val="707448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E3393-6F58-9591-C620-4A44C873FBDD}"/>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94C7F960-21C6-DB63-E686-5A3C0C253688}"/>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89B22D87-3ABE-0F4C-2156-2F5973055B33}"/>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8C36290F-2C32-818F-3984-015F58F5CF97}"/>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94ABFF7B-5D20-0E98-A690-BF3BDE0D4A82}"/>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70F10230-12B5-A16A-51E7-88DF96D1E8F7}"/>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D86F2A23-1507-B973-D6CA-60F73C42708D}"/>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8BEA7929-DD34-E476-0231-B908ABE940DE}"/>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79F1638-6ADB-1637-FB94-6A492D211855}"/>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3E2594A9-C715-7BD6-A920-912276BD7EA6}"/>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51A06FE5-0DAD-FB86-A696-A71B0B40955E}"/>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Implementation</a:t>
            </a:r>
          </a:p>
        </p:txBody>
      </p:sp>
      <p:pic>
        <p:nvPicPr>
          <p:cNvPr id="3" name="Picture 2">
            <a:extLst>
              <a:ext uri="{FF2B5EF4-FFF2-40B4-BE49-F238E27FC236}">
                <a16:creationId xmlns:a16="http://schemas.microsoft.com/office/drawing/2014/main" id="{9684E351-5EFD-8083-0204-BEBF05D4D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689" y="1828800"/>
            <a:ext cx="7334012" cy="4171219"/>
          </a:xfrm>
          <a:prstGeom prst="rect">
            <a:avLst/>
          </a:prstGeom>
        </p:spPr>
      </p:pic>
      <p:sp>
        <p:nvSpPr>
          <p:cNvPr id="4" name="AutoShape 2">
            <a:extLst>
              <a:ext uri="{FF2B5EF4-FFF2-40B4-BE49-F238E27FC236}">
                <a16:creationId xmlns:a16="http://schemas.microsoft.com/office/drawing/2014/main" id="{F050C0A8-B07D-7066-3982-8B189BA19AD8}"/>
              </a:ext>
            </a:extLst>
          </p:cNvPr>
          <p:cNvSpPr>
            <a:spLocks noChangeAspect="1" noChangeArrowheads="1"/>
          </p:cNvSpPr>
          <p:nvPr/>
        </p:nvSpPr>
        <p:spPr bwMode="auto">
          <a:xfrm>
            <a:off x="4724400" y="350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0770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E4FD6-EC3A-34AF-B8B3-3B19CA1172EA}"/>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2397482E-59E9-17D6-706E-32D4F96D42A0}"/>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5455AB88-801E-4CC0-6F75-930340A132A2}"/>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AB63D686-AAE9-A08A-A1F7-EA2C4F468688}"/>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BB19DF00-94AD-295D-8973-6310FB88AE89}"/>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21DAC352-6B7D-34AC-DF2B-E93E37B27A95}"/>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F90A7386-3083-F07D-3621-E928E8DE52C2}"/>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D45F81F2-FD22-7105-6EB9-02D969A1ADF3}"/>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15593D2D-C436-5DF5-43A2-75EBEE63819D}"/>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CED6BDAF-779B-6C6B-75C6-8EA4D09D84B1}"/>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29E86C01-6FB3-4B55-C13F-0449BE22E17D}"/>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Implementation</a:t>
            </a:r>
          </a:p>
        </p:txBody>
      </p:sp>
      <p:sp>
        <p:nvSpPr>
          <p:cNvPr id="4" name="AutoShape 2">
            <a:extLst>
              <a:ext uri="{FF2B5EF4-FFF2-40B4-BE49-F238E27FC236}">
                <a16:creationId xmlns:a16="http://schemas.microsoft.com/office/drawing/2014/main" id="{E855E2F1-7E6E-CBBB-071C-01FF69FC8881}"/>
              </a:ext>
            </a:extLst>
          </p:cNvPr>
          <p:cNvSpPr>
            <a:spLocks noChangeAspect="1" noChangeArrowheads="1"/>
          </p:cNvSpPr>
          <p:nvPr/>
        </p:nvSpPr>
        <p:spPr bwMode="auto">
          <a:xfrm>
            <a:off x="4724400" y="350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B9ECCA24-8093-A479-AD55-DB5B04F5B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135" y="1828800"/>
            <a:ext cx="7239000" cy="4094559"/>
          </a:xfrm>
          <a:prstGeom prst="rect">
            <a:avLst/>
          </a:prstGeom>
        </p:spPr>
      </p:pic>
    </p:spTree>
    <p:extLst>
      <p:ext uri="{BB962C8B-B14F-4D97-AF65-F5344CB8AC3E}">
        <p14:creationId xmlns:p14="http://schemas.microsoft.com/office/powerpoint/2010/main" val="2424605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55E45-F31C-693D-7151-A3E04C871144}"/>
            </a:ext>
          </a:extLst>
        </p:cNvPr>
        <p:cNvGrpSpPr/>
        <p:nvPr/>
      </p:nvGrpSpPr>
      <p:grpSpPr>
        <a:xfrm>
          <a:off x="0" y="0"/>
          <a:ext cx="0" cy="0"/>
          <a:chOff x="0" y="0"/>
          <a:chExt cx="0" cy="0"/>
        </a:xfrm>
      </p:grpSpPr>
      <p:grpSp>
        <p:nvGrpSpPr>
          <p:cNvPr id="5" name="object 5">
            <a:extLst>
              <a:ext uri="{FF2B5EF4-FFF2-40B4-BE49-F238E27FC236}">
                <a16:creationId xmlns:a16="http://schemas.microsoft.com/office/drawing/2014/main" id="{31862560-2FD0-A374-41FB-8D65D6F95F6C}"/>
              </a:ext>
            </a:extLst>
          </p:cNvPr>
          <p:cNvGrpSpPr/>
          <p:nvPr/>
        </p:nvGrpSpPr>
        <p:grpSpPr>
          <a:xfrm>
            <a:off x="5485036" y="-4761"/>
            <a:ext cx="4273550" cy="7324725"/>
            <a:chOff x="5485036" y="-4761"/>
            <a:chExt cx="4273550" cy="7324725"/>
          </a:xfrm>
        </p:grpSpPr>
        <p:sp>
          <p:nvSpPr>
            <p:cNvPr id="6" name="object 6">
              <a:extLst>
                <a:ext uri="{FF2B5EF4-FFF2-40B4-BE49-F238E27FC236}">
                  <a16:creationId xmlns:a16="http://schemas.microsoft.com/office/drawing/2014/main" id="{4F52B6DC-5E03-B291-17B5-3649EAB6AA39}"/>
                </a:ext>
              </a:extLst>
            </p:cNvPr>
            <p:cNvSpPr/>
            <p:nvPr/>
          </p:nvSpPr>
          <p:spPr>
            <a:xfrm>
              <a:off x="5489798" y="0"/>
              <a:ext cx="4264025" cy="7315200"/>
            </a:xfrm>
            <a:custGeom>
              <a:avLst/>
              <a:gdLst/>
              <a:ahLst/>
              <a:cxnLst/>
              <a:rect l="l" t="t" r="r" b="b"/>
              <a:pathLst>
                <a:path w="4264025" h="7315200">
                  <a:moveTo>
                    <a:pt x="0" y="7315199"/>
                  </a:moveTo>
                  <a:lnTo>
                    <a:pt x="4263800" y="4469647"/>
                  </a:lnTo>
                </a:path>
                <a:path w="4264025" h="7315200">
                  <a:moveTo>
                    <a:pt x="2028885" y="0"/>
                  </a:moveTo>
                  <a:lnTo>
                    <a:pt x="3327506" y="7315199"/>
                  </a:lnTo>
                </a:path>
              </a:pathLst>
            </a:custGeom>
            <a:ln w="9524">
              <a:solidFill>
                <a:srgbClr val="5ECBEF"/>
              </a:solidFill>
            </a:ln>
          </p:spPr>
          <p:txBody>
            <a:bodyPr wrap="square" lIns="0" tIns="0" rIns="0" bIns="0" rtlCol="0"/>
            <a:lstStyle/>
            <a:p>
              <a:endParaRPr/>
            </a:p>
          </p:txBody>
        </p:sp>
        <p:sp>
          <p:nvSpPr>
            <p:cNvPr id="7" name="object 7">
              <a:extLst>
                <a:ext uri="{FF2B5EF4-FFF2-40B4-BE49-F238E27FC236}">
                  <a16:creationId xmlns:a16="http://schemas.microsoft.com/office/drawing/2014/main" id="{F4EEF274-A5F5-A544-7BEA-C9FE12AF003A}"/>
                </a:ext>
              </a:extLst>
            </p:cNvPr>
            <p:cNvSpPr/>
            <p:nvPr/>
          </p:nvSpPr>
          <p:spPr>
            <a:xfrm>
              <a:off x="7361232" y="0"/>
              <a:ext cx="2392680" cy="7315200"/>
            </a:xfrm>
            <a:custGeom>
              <a:avLst/>
              <a:gdLst/>
              <a:ahLst/>
              <a:cxnLst/>
              <a:rect l="l" t="t" r="r" b="b"/>
              <a:pathLst>
                <a:path w="2392679" h="7315200">
                  <a:moveTo>
                    <a:pt x="2392366" y="7315199"/>
                  </a:moveTo>
                  <a:lnTo>
                    <a:pt x="0" y="7315199"/>
                  </a:lnTo>
                  <a:lnTo>
                    <a:pt x="2157114" y="0"/>
                  </a:lnTo>
                  <a:lnTo>
                    <a:pt x="2392366" y="8484"/>
                  </a:lnTo>
                  <a:lnTo>
                    <a:pt x="2392366" y="7315199"/>
                  </a:lnTo>
                  <a:close/>
                </a:path>
              </a:pathLst>
            </a:custGeom>
            <a:solidFill>
              <a:srgbClr val="5ECBEF">
                <a:alpha val="35998"/>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D299C67E-B019-4570-0518-9207F8CE37E5}"/>
                </a:ext>
              </a:extLst>
            </p:cNvPr>
            <p:cNvSpPr/>
            <p:nvPr/>
          </p:nvSpPr>
          <p:spPr>
            <a:xfrm>
              <a:off x="7693378" y="0"/>
              <a:ext cx="2060575" cy="7315200"/>
            </a:xfrm>
            <a:custGeom>
              <a:avLst/>
              <a:gdLst/>
              <a:ahLst/>
              <a:cxnLst/>
              <a:rect l="l" t="t" r="r" b="b"/>
              <a:pathLst>
                <a:path w="2060575" h="7315200">
                  <a:moveTo>
                    <a:pt x="2060221" y="7315199"/>
                  </a:moveTo>
                  <a:lnTo>
                    <a:pt x="1280225" y="7315199"/>
                  </a:lnTo>
                  <a:lnTo>
                    <a:pt x="0" y="0"/>
                  </a:lnTo>
                  <a:lnTo>
                    <a:pt x="2060221" y="0"/>
                  </a:lnTo>
                  <a:lnTo>
                    <a:pt x="2060221" y="7315199"/>
                  </a:lnTo>
                  <a:close/>
                </a:path>
              </a:pathLst>
            </a:custGeom>
            <a:solidFill>
              <a:srgbClr val="5ECBEF">
                <a:alpha val="1999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2650B680-F5DE-8F80-2221-CE0E282E25FA}"/>
                </a:ext>
              </a:extLst>
            </p:cNvPr>
            <p:cNvSpPr/>
            <p:nvPr/>
          </p:nvSpPr>
          <p:spPr>
            <a:xfrm>
              <a:off x="7096375" y="4198853"/>
              <a:ext cx="2657475" cy="3116580"/>
            </a:xfrm>
            <a:custGeom>
              <a:avLst/>
              <a:gdLst/>
              <a:ahLst/>
              <a:cxnLst/>
              <a:rect l="l" t="t" r="r" b="b"/>
              <a:pathLst>
                <a:path w="2657475" h="3116579">
                  <a:moveTo>
                    <a:pt x="2657223" y="3116345"/>
                  </a:moveTo>
                  <a:lnTo>
                    <a:pt x="0" y="3116345"/>
                  </a:lnTo>
                  <a:lnTo>
                    <a:pt x="2657223" y="0"/>
                  </a:lnTo>
                  <a:lnTo>
                    <a:pt x="2657223" y="3116345"/>
                  </a:lnTo>
                  <a:close/>
                </a:path>
              </a:pathLst>
            </a:custGeom>
            <a:solidFill>
              <a:srgbClr val="17B0E3">
                <a:alpha val="65998"/>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93096F09-C6E3-061C-0803-F9E3407621EE}"/>
                </a:ext>
              </a:extLst>
            </p:cNvPr>
            <p:cNvSpPr/>
            <p:nvPr/>
          </p:nvSpPr>
          <p:spPr>
            <a:xfrm>
              <a:off x="7486762" y="0"/>
              <a:ext cx="2266950" cy="7315200"/>
            </a:xfrm>
            <a:custGeom>
              <a:avLst/>
              <a:gdLst/>
              <a:ahLst/>
              <a:cxnLst/>
              <a:rect l="l" t="t" r="r" b="b"/>
              <a:pathLst>
                <a:path w="2266950" h="7315200">
                  <a:moveTo>
                    <a:pt x="2266836" y="7315199"/>
                  </a:moveTo>
                  <a:lnTo>
                    <a:pt x="1976795" y="7315199"/>
                  </a:lnTo>
                  <a:lnTo>
                    <a:pt x="0" y="0"/>
                  </a:lnTo>
                  <a:lnTo>
                    <a:pt x="2266836" y="0"/>
                  </a:lnTo>
                  <a:lnTo>
                    <a:pt x="2266836" y="7315199"/>
                  </a:lnTo>
                  <a:close/>
                </a:path>
              </a:pathLst>
            </a:custGeom>
            <a:solidFill>
              <a:srgbClr val="17B0E3">
                <a:alpha val="50000"/>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CC1649FC-5B8D-D21C-207A-C91500C3876C}"/>
                </a:ext>
              </a:extLst>
            </p:cNvPr>
            <p:cNvSpPr/>
            <p:nvPr/>
          </p:nvSpPr>
          <p:spPr>
            <a:xfrm>
              <a:off x="8858272" y="0"/>
              <a:ext cx="895350" cy="7315200"/>
            </a:xfrm>
            <a:custGeom>
              <a:avLst/>
              <a:gdLst/>
              <a:ahLst/>
              <a:cxnLst/>
              <a:rect l="l" t="t" r="r" b="b"/>
              <a:pathLst>
                <a:path w="895350" h="7315200">
                  <a:moveTo>
                    <a:pt x="895327" y="7315199"/>
                  </a:moveTo>
                  <a:lnTo>
                    <a:pt x="0" y="7315199"/>
                  </a:lnTo>
                  <a:lnTo>
                    <a:pt x="720121" y="0"/>
                  </a:lnTo>
                  <a:lnTo>
                    <a:pt x="895327" y="0"/>
                  </a:lnTo>
                  <a:lnTo>
                    <a:pt x="895327" y="7315199"/>
                  </a:lnTo>
                  <a:close/>
                </a:path>
              </a:pathLst>
            </a:custGeom>
            <a:solidFill>
              <a:srgbClr val="2E82C2">
                <a:alpha val="6999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2589A650-A89A-C6BF-7C56-4F711532FF6B}"/>
                </a:ext>
              </a:extLst>
            </p:cNvPr>
            <p:cNvSpPr/>
            <p:nvPr/>
          </p:nvSpPr>
          <p:spPr>
            <a:xfrm>
              <a:off x="8643109" y="0"/>
              <a:ext cx="1110615" cy="7315200"/>
            </a:xfrm>
            <a:custGeom>
              <a:avLst/>
              <a:gdLst/>
              <a:ahLst/>
              <a:cxnLst/>
              <a:rect l="l" t="t" r="r" b="b"/>
              <a:pathLst>
                <a:path w="1110615" h="7315200">
                  <a:moveTo>
                    <a:pt x="1110489" y="7315199"/>
                  </a:moveTo>
                  <a:lnTo>
                    <a:pt x="999508" y="7315199"/>
                  </a:lnTo>
                  <a:lnTo>
                    <a:pt x="0" y="0"/>
                  </a:lnTo>
                  <a:lnTo>
                    <a:pt x="1110489" y="0"/>
                  </a:lnTo>
                  <a:lnTo>
                    <a:pt x="1110489" y="7315199"/>
                  </a:lnTo>
                  <a:close/>
                </a:path>
              </a:pathLst>
            </a:custGeom>
            <a:solidFill>
              <a:srgbClr val="236191">
                <a:alpha val="8199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541EAA2E-17BB-84FD-B5C8-67C3CD70A183}"/>
                </a:ext>
              </a:extLst>
            </p:cNvPr>
            <p:cNvSpPr/>
            <p:nvPr/>
          </p:nvSpPr>
          <p:spPr>
            <a:xfrm>
              <a:off x="8620000" y="5269801"/>
              <a:ext cx="1134110" cy="2045970"/>
            </a:xfrm>
            <a:custGeom>
              <a:avLst/>
              <a:gdLst/>
              <a:ahLst/>
              <a:cxnLst/>
              <a:rect l="l" t="t" r="r" b="b"/>
              <a:pathLst>
                <a:path w="1134109" h="2045970">
                  <a:moveTo>
                    <a:pt x="1133599" y="2045397"/>
                  </a:moveTo>
                  <a:lnTo>
                    <a:pt x="0" y="2045397"/>
                  </a:lnTo>
                  <a:lnTo>
                    <a:pt x="1133599" y="0"/>
                  </a:lnTo>
                  <a:lnTo>
                    <a:pt x="1133599" y="2045397"/>
                  </a:lnTo>
                  <a:close/>
                </a:path>
              </a:pathLst>
            </a:custGeom>
            <a:solidFill>
              <a:srgbClr val="17B0E3">
                <a:alpha val="65998"/>
              </a:srgbClr>
            </a:solidFill>
          </p:spPr>
          <p:txBody>
            <a:bodyPr wrap="square" lIns="0" tIns="0" rIns="0" bIns="0" rtlCol="0"/>
            <a:lstStyle/>
            <a:p>
              <a:endParaRPr/>
            </a:p>
          </p:txBody>
        </p:sp>
      </p:grpSp>
      <p:sp>
        <p:nvSpPr>
          <p:cNvPr id="14" name="object 14">
            <a:extLst>
              <a:ext uri="{FF2B5EF4-FFF2-40B4-BE49-F238E27FC236}">
                <a16:creationId xmlns:a16="http://schemas.microsoft.com/office/drawing/2014/main" id="{EE6E7946-20B8-212B-55B4-C5DC4735A423}"/>
              </a:ext>
            </a:extLst>
          </p:cNvPr>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Implementation</a:t>
            </a:r>
          </a:p>
        </p:txBody>
      </p:sp>
      <p:sp>
        <p:nvSpPr>
          <p:cNvPr id="4" name="AutoShape 2">
            <a:extLst>
              <a:ext uri="{FF2B5EF4-FFF2-40B4-BE49-F238E27FC236}">
                <a16:creationId xmlns:a16="http://schemas.microsoft.com/office/drawing/2014/main" id="{7A56C018-8C5F-23E9-C41B-9CBEAC569913}"/>
              </a:ext>
            </a:extLst>
          </p:cNvPr>
          <p:cNvSpPr>
            <a:spLocks noChangeAspect="1" noChangeArrowheads="1"/>
          </p:cNvSpPr>
          <p:nvPr/>
        </p:nvSpPr>
        <p:spPr bwMode="auto">
          <a:xfrm>
            <a:off x="4724400" y="350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0CE49F58-02AE-7D23-6A98-743694B7B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215" y="1884996"/>
            <a:ext cx="7121533" cy="3677604"/>
          </a:xfrm>
          <a:prstGeom prst="rect">
            <a:avLst/>
          </a:prstGeom>
        </p:spPr>
      </p:pic>
    </p:spTree>
    <p:extLst>
      <p:ext uri="{BB962C8B-B14F-4D97-AF65-F5344CB8AC3E}">
        <p14:creationId xmlns:p14="http://schemas.microsoft.com/office/powerpoint/2010/main" val="10351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50" dirty="0"/>
              <a:t>Conclusion</a:t>
            </a:r>
          </a:p>
        </p:txBody>
      </p:sp>
      <p:sp>
        <p:nvSpPr>
          <p:cNvPr id="3" name="Rectangle 1">
            <a:extLst>
              <a:ext uri="{FF2B5EF4-FFF2-40B4-BE49-F238E27FC236}">
                <a16:creationId xmlns:a16="http://schemas.microsoft.com/office/drawing/2014/main" id="{A664BF59-A40D-3EF4-B223-577D86FBC50F}"/>
              </a:ext>
            </a:extLst>
          </p:cNvPr>
          <p:cNvSpPr>
            <a:spLocks noChangeArrowheads="1"/>
          </p:cNvSpPr>
          <p:nvPr/>
        </p:nvSpPr>
        <p:spPr bwMode="auto">
          <a:xfrm rot="10800000" flipV="1">
            <a:off x="474866" y="1245072"/>
            <a:ext cx="8516734"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rtl="0"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NewsRankAI</a:t>
            </a:r>
            <a:r>
              <a:rPr lang="en-US" sz="2000" dirty="0">
                <a:latin typeface="Times New Roman" panose="02020603050405020304" pitchFamily="18" charset="0"/>
                <a:cs typeface="Times New Roman" panose="02020603050405020304" pitchFamily="18" charset="0"/>
              </a:rPr>
              <a:t> system demonstrates how machine learning and natural language processing can be used to automatically classify news headlines into different categories. The system helps in organizing and analyzing large amounts of news data efficiently. By using models like Logistic Regression with NLP techniques, the application can accurately predict the category of a given news headline. This project shows the potential of AI-based systems in improving news management and information analysis.</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40" dirty="0"/>
              <a:t>References</a:t>
            </a:r>
          </a:p>
        </p:txBody>
      </p:sp>
      <p:sp>
        <p:nvSpPr>
          <p:cNvPr id="4" name="Rectangle 1">
            <a:extLst>
              <a:ext uri="{FF2B5EF4-FFF2-40B4-BE49-F238E27FC236}">
                <a16:creationId xmlns:a16="http://schemas.microsoft.com/office/drawing/2014/main" id="{6F8289FA-7369-2E1D-658B-B4122795E6E0}"/>
              </a:ext>
            </a:extLst>
          </p:cNvPr>
          <p:cNvSpPr>
            <a:spLocks noChangeArrowheads="1"/>
          </p:cNvSpPr>
          <p:nvPr/>
        </p:nvSpPr>
        <p:spPr bwMode="auto">
          <a:xfrm rot="10800000" flipH="1" flipV="1">
            <a:off x="444966" y="855646"/>
            <a:ext cx="8775234" cy="6013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r>
              <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a:t>
            </a:r>
            <a:r>
              <a:rPr lang="en-IN" sz="2000" dirty="0" err="1">
                <a:latin typeface="Times New Roman" panose="02020603050405020304" pitchFamily="18" charset="0"/>
                <a:cs typeface="Times New Roman" panose="02020603050405020304" pitchFamily="18" charset="0"/>
              </a:rPr>
              <a:t>owsari</a:t>
            </a:r>
            <a:r>
              <a:rPr lang="en-IN" sz="2000" dirty="0">
                <a:latin typeface="Times New Roman" panose="02020603050405020304" pitchFamily="18" charset="0"/>
                <a:cs typeface="Times New Roman" panose="02020603050405020304" pitchFamily="18" charset="0"/>
              </a:rPr>
              <a:t>, K., Jafari </a:t>
            </a:r>
            <a:r>
              <a:rPr lang="en-IN" sz="2000" dirty="0" err="1">
                <a:latin typeface="Times New Roman" panose="02020603050405020304" pitchFamily="18" charset="0"/>
                <a:cs typeface="Times New Roman" panose="02020603050405020304" pitchFamily="18" charset="0"/>
              </a:rPr>
              <a:t>Meimandi</a:t>
            </a:r>
            <a:r>
              <a:rPr lang="en-IN" sz="2000" dirty="0">
                <a:latin typeface="Times New Roman" panose="02020603050405020304" pitchFamily="18" charset="0"/>
                <a:cs typeface="Times New Roman" panose="02020603050405020304" pitchFamily="18" charset="0"/>
              </a:rPr>
              <a:t>, K., </a:t>
            </a:r>
            <a:r>
              <a:rPr lang="en-IN" sz="2000" dirty="0" err="1">
                <a:latin typeface="Times New Roman" panose="02020603050405020304" pitchFamily="18" charset="0"/>
                <a:cs typeface="Times New Roman" panose="02020603050405020304" pitchFamily="18" charset="0"/>
              </a:rPr>
              <a:t>Heidarysafa</a:t>
            </a:r>
            <a:r>
              <a:rPr lang="en-IN" sz="2000" dirty="0">
                <a:latin typeface="Times New Roman" panose="02020603050405020304" pitchFamily="18" charset="0"/>
                <a:cs typeface="Times New Roman" panose="02020603050405020304" pitchFamily="18" charset="0"/>
              </a:rPr>
              <a:t>, M. “Text Classification Algorithms: A Survey.”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a:t>
            </a:r>
            <a:r>
              <a:rPr lang="en-IN" sz="2000" dirty="0">
                <a:latin typeface="Times New Roman" panose="02020603050405020304" pitchFamily="18" charset="0"/>
                <a:cs typeface="Times New Roman" panose="02020603050405020304" pitchFamily="18" charset="0"/>
              </a:rPr>
              <a:t>Aggarwal, C. C., Zhai, C. “A Survey of Text Classification Algorithms.”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a:t>
            </a:r>
            <a:r>
              <a:rPr lang="en-IN" sz="2000" dirty="0">
                <a:latin typeface="Times New Roman" panose="02020603050405020304" pitchFamily="18" charset="0"/>
                <a:cs typeface="Times New Roman" panose="02020603050405020304" pitchFamily="18" charset="0"/>
              </a:rPr>
              <a:t>Zhang, X., Zhao, J., LeCun, Y. “Character-level Convolutional Networks for Text Classification.”</a:t>
            </a:r>
          </a:p>
          <a:p>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Sebastiani, F. “Machine Learning in Automated Text Categorization.</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n-GB"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n-GB"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0310" y="3201736"/>
            <a:ext cx="2701925" cy="556895"/>
          </a:xfrm>
          <a:prstGeom prst="rect">
            <a:avLst/>
          </a:prstGeom>
        </p:spPr>
        <p:txBody>
          <a:bodyPr vert="horz" wrap="square" lIns="0" tIns="17145" rIns="0" bIns="0" rtlCol="0">
            <a:spAutoFit/>
          </a:bodyPr>
          <a:lstStyle/>
          <a:p>
            <a:pPr marL="12700">
              <a:lnSpc>
                <a:spcPct val="100000"/>
              </a:lnSpc>
              <a:spcBef>
                <a:spcPts val="135"/>
              </a:spcBef>
            </a:pPr>
            <a:r>
              <a:rPr spc="-25" dirty="0"/>
              <a:t>Thank</a:t>
            </a:r>
            <a:r>
              <a:rPr spc="-175" dirty="0"/>
              <a:t> </a:t>
            </a:r>
            <a:r>
              <a:rPr spc="-35"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1105</TotalTime>
  <Words>1150</Words>
  <Application>Microsoft Office PowerPoint</Application>
  <PresentationFormat>Custom</PresentationFormat>
  <Paragraphs>144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NewsRankAI</vt:lpstr>
      <vt:lpstr>Sustainable Development Goals (SDG)Mapped</vt:lpstr>
      <vt:lpstr>Sustainable Development Goals (SDG)Mapped</vt:lpstr>
      <vt:lpstr>Introduction</vt:lpstr>
      <vt:lpstr>Introduction</vt:lpstr>
      <vt:lpstr>Introduction</vt:lpstr>
      <vt:lpstr>Literature Survey of the existing system</vt:lpstr>
      <vt:lpstr>Literature Survey of the existing system</vt:lpstr>
      <vt:lpstr>Limitations of existing systems</vt:lpstr>
      <vt:lpstr>Problem statement</vt:lpstr>
      <vt:lpstr>System Design</vt:lpstr>
      <vt:lpstr>Technologies and methodologies</vt:lpstr>
      <vt:lpstr>Technologies and methodologies</vt:lpstr>
      <vt:lpstr>Technologies and methodologies</vt:lpstr>
      <vt:lpstr>Implementation</vt:lpstr>
      <vt:lpstr>Implementation</vt:lpstr>
      <vt:lpstr>Implementation</vt:lpstr>
      <vt:lpstr>Implementation</vt:lpstr>
      <vt:lpstr>Implementation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ppt.ppt</dc:title>
  <dc:creator>Ranjana Yadav</dc:creator>
  <cp:keywords>DAGxCVYUOzA,BAF2Zm7Hy3Q,0</cp:keywords>
  <cp:lastModifiedBy>riddhi pise</cp:lastModifiedBy>
  <cp:revision>91</cp:revision>
  <dcterms:created xsi:type="dcterms:W3CDTF">2025-08-25T02:46:03Z</dcterms:created>
  <dcterms:modified xsi:type="dcterms:W3CDTF">2026-03-30T18:43:53Z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2025-08-25T00:00:00Z</vt:filetime>
  </property>
  <property fmtid="{D5CDD505-2E9C-101B-9397-08002B2CF9AE}" pid="3" name="Creator">
    <vt:lpwstr>Canva</vt:lpwstr>
  </property>
  <property fmtid="{D5CDD505-2E9C-101B-9397-08002B2CF9AE}" pid="4" name="LastSaved">
    <vt:filetime>2025-08-25T00:00:00Z</vt:filetime>
  </property>
  <property fmtid="{D5CDD505-2E9C-101B-9397-08002B2CF9AE}" pid="5" name="Producer">
    <vt:lpwstr>Canva</vt:lpwstr>
  </property>
</Properties>
</file>